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38"/>
  </p:notesMasterIdLst>
  <p:sldIdLst>
    <p:sldId id="267" r:id="rId2"/>
    <p:sldId id="301" r:id="rId3"/>
    <p:sldId id="257" r:id="rId4"/>
    <p:sldId id="284" r:id="rId5"/>
    <p:sldId id="285" r:id="rId6"/>
    <p:sldId id="286" r:id="rId7"/>
    <p:sldId id="259" r:id="rId8"/>
    <p:sldId id="260" r:id="rId9"/>
    <p:sldId id="261" r:id="rId10"/>
    <p:sldId id="268" r:id="rId11"/>
    <p:sldId id="283" r:id="rId12"/>
    <p:sldId id="281" r:id="rId13"/>
    <p:sldId id="282" r:id="rId14"/>
    <p:sldId id="263" r:id="rId15"/>
    <p:sldId id="269" r:id="rId16"/>
    <p:sldId id="275" r:id="rId17"/>
    <p:sldId id="276" r:id="rId18"/>
    <p:sldId id="302" r:id="rId19"/>
    <p:sldId id="303" r:id="rId20"/>
    <p:sldId id="277" r:id="rId21"/>
    <p:sldId id="304" r:id="rId22"/>
    <p:sldId id="278" r:id="rId23"/>
    <p:sldId id="306" r:id="rId24"/>
    <p:sldId id="279" r:id="rId25"/>
    <p:sldId id="280" r:id="rId26"/>
    <p:sldId id="294" r:id="rId27"/>
    <p:sldId id="295" r:id="rId28"/>
    <p:sldId id="296" r:id="rId29"/>
    <p:sldId id="297" r:id="rId30"/>
    <p:sldId id="307" r:id="rId31"/>
    <p:sldId id="298" r:id="rId32"/>
    <p:sldId id="299" r:id="rId33"/>
    <p:sldId id="308" r:id="rId34"/>
    <p:sldId id="300" r:id="rId35"/>
    <p:sldId id="309" r:id="rId36"/>
    <p:sldId id="27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53" autoAdjust="0"/>
    <p:restoredTop sz="94660" autoAdjust="0"/>
  </p:normalViewPr>
  <p:slideViewPr>
    <p:cSldViewPr>
      <p:cViewPr varScale="1">
        <p:scale>
          <a:sx n="73" d="100"/>
          <a:sy n="73" d="100"/>
        </p:scale>
        <p:origin x="-1290" y="-102"/>
      </p:cViewPr>
      <p:guideLst>
        <p:guide orient="horz" pos="2160"/>
        <p:guide pos="2880"/>
      </p:guideLst>
    </p:cSldViewPr>
  </p:slideViewPr>
  <p:outlineViewPr>
    <p:cViewPr>
      <p:scale>
        <a:sx n="33" d="100"/>
        <a:sy n="33" d="100"/>
      </p:scale>
      <p:origin x="0" y="1848"/>
    </p:cViewPr>
  </p:outlineViewPr>
  <p:notesTextViewPr>
    <p:cViewPr>
      <p:scale>
        <a:sx n="100" d="100"/>
        <a:sy n="100" d="100"/>
      </p:scale>
      <p:origin x="0" y="0"/>
    </p:cViewPr>
  </p:notesTextViewPr>
  <p:notesViewPr>
    <p:cSldViewPr>
      <p:cViewPr varScale="1">
        <p:scale>
          <a:sx n="55" d="100"/>
          <a:sy n="55" d="100"/>
        </p:scale>
        <p:origin x="-2820"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B3AD4F-333B-4FA6-A95A-8834EE455EFF}" type="datetimeFigureOut">
              <a:rPr lang="en-US" smtClean="0"/>
              <a:pPr/>
              <a:t>27-Apr-20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3C61A5-194D-44A2-BAC4-33515B3CF077}" type="slidenum">
              <a:rPr lang="en-US" smtClean="0"/>
              <a:pPr/>
              <a:t>‹#›</a:t>
            </a:fld>
            <a:endParaRPr lang="en-US"/>
          </a:p>
        </p:txBody>
      </p:sp>
    </p:spTree>
    <p:extLst>
      <p:ext uri="{BB962C8B-B14F-4D97-AF65-F5344CB8AC3E}">
        <p14:creationId xmlns="" xmlns:p14="http://schemas.microsoft.com/office/powerpoint/2010/main" val="1297134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83C61A5-194D-44A2-BAC4-33515B3CF077}"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D82AAB8-209E-40E4-9B0A-72170986B060}" type="datetimeFigureOut">
              <a:rPr lang="en-US" smtClean="0"/>
              <a:pPr/>
              <a:t>27-Apr-20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05D4DAC-9686-44D4-9C67-CFBEB78F528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82AAB8-209E-40E4-9B0A-72170986B060}" type="datetimeFigureOut">
              <a:rPr lang="en-US" smtClean="0"/>
              <a:pPr/>
              <a:t>27-Apr-20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D82AAB8-209E-40E4-9B0A-72170986B060}" type="datetimeFigureOut">
              <a:rPr lang="en-US" smtClean="0"/>
              <a:pPr/>
              <a:t>27-Apr-20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5D4DAC-9686-44D4-9C67-CFBEB78F528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82AAB8-209E-40E4-9B0A-72170986B060}" type="datetimeFigureOut">
              <a:rPr lang="en-US" smtClean="0"/>
              <a:pPr/>
              <a:t>27-Apr-20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D82AAB8-209E-40E4-9B0A-72170986B060}" type="datetimeFigureOut">
              <a:rPr lang="en-US" smtClean="0"/>
              <a:pPr/>
              <a:t>27-Apr-20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D82AAB8-209E-40E4-9B0A-72170986B060}" type="datetimeFigureOut">
              <a:rPr lang="en-US" smtClean="0"/>
              <a:pPr/>
              <a:t>27-Apr-20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82AAB8-209E-40E4-9B0A-72170986B060}" type="datetimeFigureOut">
              <a:rPr lang="en-US" smtClean="0"/>
              <a:pPr/>
              <a:t>27-Apr-20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82AAB8-209E-40E4-9B0A-72170986B060}" type="datetimeFigureOut">
              <a:rPr lang="en-US" smtClean="0"/>
              <a:pPr/>
              <a:t>27-Apr-20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D82AAB8-209E-40E4-9B0A-72170986B060}" type="datetimeFigureOut">
              <a:rPr lang="en-US" smtClean="0"/>
              <a:pPr/>
              <a:t>27-Apr-20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05D4DAC-9686-44D4-9C67-CFBEB78F5284}"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82AAB8-209E-40E4-9B0A-72170986B060}" type="datetimeFigureOut">
              <a:rPr lang="en-US" smtClean="0"/>
              <a:pPr/>
              <a:t>27-Apr-20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82AAB8-209E-40E4-9B0A-72170986B060}" type="datetimeFigureOut">
              <a:rPr lang="en-US" smtClean="0"/>
              <a:pPr/>
              <a:t>27-Apr-20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5D4DAC-9686-44D4-9C67-CFBEB78F528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82AAB8-209E-40E4-9B0A-72170986B060}" type="datetimeFigureOut">
              <a:rPr lang="en-US" smtClean="0"/>
              <a:pPr/>
              <a:t>27-Apr-20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05D4DAC-9686-44D4-9C67-CFBEB78F5284}"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0352" y="533400"/>
            <a:ext cx="7772400" cy="1676400"/>
          </a:xfrm>
        </p:spPr>
        <p:txBody>
          <a:bodyPr/>
          <a:lstStyle/>
          <a:p>
            <a:r>
              <a:rPr lang="en-US" sz="4800" dirty="0" smtClean="0"/>
              <a:t>EXCEL AUTOMATION USING RPA</a:t>
            </a:r>
            <a:endParaRPr lang="en-US" sz="4800" dirty="0"/>
          </a:p>
        </p:txBody>
      </p:sp>
      <p:sp>
        <p:nvSpPr>
          <p:cNvPr id="3" name="Text Placeholder 2"/>
          <p:cNvSpPr>
            <a:spLocks noGrp="1"/>
          </p:cNvSpPr>
          <p:nvPr>
            <p:ph type="body" idx="1"/>
          </p:nvPr>
        </p:nvSpPr>
        <p:spPr>
          <a:xfrm>
            <a:off x="533400" y="2057400"/>
            <a:ext cx="7769352" cy="4419600"/>
          </a:xfrm>
        </p:spPr>
        <p:txBody>
          <a:bodyPr>
            <a:normAutofit fontScale="25000" lnSpcReduction="20000"/>
          </a:bodyPr>
          <a:lstStyle/>
          <a:p>
            <a:r>
              <a:rPr lang="en-US" sz="2400" dirty="0" smtClean="0">
                <a:latin typeface="Times New Roman" panose="02020603050405020304" pitchFamily="18" charset="0"/>
                <a:cs typeface="Times New Roman" panose="02020603050405020304" pitchFamily="18" charset="0"/>
              </a:rPr>
              <a:t>		</a:t>
            </a:r>
            <a:r>
              <a:rPr lang="en-US" sz="9600" dirty="0" smtClean="0">
                <a:latin typeface="Times New Roman" panose="02020603050405020304" pitchFamily="18" charset="0"/>
                <a:cs typeface="Times New Roman" panose="02020603050405020304" pitchFamily="18" charset="0"/>
              </a:rPr>
              <a:t>           				</a:t>
            </a:r>
          </a:p>
          <a:p>
            <a:r>
              <a:rPr lang="en-US" sz="9600" dirty="0" smtClean="0">
                <a:latin typeface="Times New Roman" panose="02020603050405020304" pitchFamily="18" charset="0"/>
                <a:cs typeface="Times New Roman" panose="02020603050405020304" pitchFamily="18" charset="0"/>
              </a:rPr>
              <a:t>			Team Members</a:t>
            </a:r>
            <a:endParaRPr lang="en-US" sz="9600" dirty="0">
              <a:latin typeface="Times New Roman" panose="02020603050405020304" pitchFamily="18" charset="0"/>
              <a:cs typeface="Times New Roman" panose="02020603050405020304" pitchFamily="18" charset="0"/>
            </a:endParaRPr>
          </a:p>
          <a:p>
            <a:r>
              <a:rPr lang="en-US" sz="9600" dirty="0" smtClean="0">
                <a:latin typeface="Times New Roman" panose="02020603050405020304" pitchFamily="18" charset="0"/>
                <a:cs typeface="Times New Roman" panose="02020603050405020304" pitchFamily="18" charset="0"/>
              </a:rPr>
              <a:t>			1.</a:t>
            </a:r>
            <a:r>
              <a:rPr lang="en-IN" sz="9600" dirty="0" smtClean="0">
                <a:latin typeface="Times New Roman" panose="02020603050405020304" pitchFamily="18" charset="0"/>
                <a:cs typeface="Times New Roman" panose="02020603050405020304" pitchFamily="18" charset="0"/>
              </a:rPr>
              <a:t>BARANI.S</a:t>
            </a:r>
          </a:p>
          <a:p>
            <a:r>
              <a:rPr lang="en-IN" altLang="en-US" sz="9600" dirty="0" smtClean="0">
                <a:latin typeface="Times New Roman" panose="02020603050405020304" pitchFamily="18" charset="0"/>
                <a:cs typeface="Times New Roman" panose="02020603050405020304" pitchFamily="18" charset="0"/>
              </a:rPr>
              <a:t>			2.DEEPIKA.S</a:t>
            </a:r>
          </a:p>
          <a:p>
            <a:r>
              <a:rPr lang="en-IN" altLang="en-US" sz="9600" dirty="0">
                <a:latin typeface="Times New Roman" panose="02020603050405020304" pitchFamily="18" charset="0"/>
                <a:cs typeface="Times New Roman" panose="02020603050405020304" pitchFamily="18" charset="0"/>
              </a:rPr>
              <a:t>	</a:t>
            </a:r>
            <a:r>
              <a:rPr lang="en-IN" altLang="en-US" sz="9600" dirty="0" smtClean="0">
                <a:latin typeface="Times New Roman" panose="02020603050405020304" pitchFamily="18" charset="0"/>
                <a:cs typeface="Times New Roman" panose="02020603050405020304" pitchFamily="18" charset="0"/>
              </a:rPr>
              <a:t>		3.GOWTHAM.M</a:t>
            </a:r>
          </a:p>
          <a:p>
            <a:r>
              <a:rPr lang="en-IN" altLang="en-US" sz="9600" dirty="0">
                <a:latin typeface="Times New Roman" panose="02020603050405020304" pitchFamily="18" charset="0"/>
                <a:cs typeface="Times New Roman" panose="02020603050405020304" pitchFamily="18" charset="0"/>
              </a:rPr>
              <a:t>	</a:t>
            </a:r>
            <a:r>
              <a:rPr lang="en-IN" altLang="en-US" sz="9600" dirty="0" smtClean="0">
                <a:latin typeface="Times New Roman" panose="02020603050405020304" pitchFamily="18" charset="0"/>
                <a:cs typeface="Times New Roman" panose="02020603050405020304" pitchFamily="18" charset="0"/>
              </a:rPr>
              <a:t>		4.KISHORE.K</a:t>
            </a:r>
          </a:p>
          <a:p>
            <a:r>
              <a:rPr lang="en-IN" altLang="en-US" sz="9600" dirty="0" smtClean="0">
                <a:latin typeface="Times New Roman" panose="02020603050405020304" pitchFamily="18" charset="0"/>
                <a:cs typeface="Times New Roman" panose="02020603050405020304" pitchFamily="18" charset="0"/>
              </a:rPr>
              <a:t>                             </a:t>
            </a:r>
          </a:p>
          <a:p>
            <a:endParaRPr lang="en-US" sz="9600" dirty="0" smtClean="0">
              <a:latin typeface="Times New Roman" panose="02020603050405020304" pitchFamily="18" charset="0"/>
              <a:cs typeface="Times New Roman" panose="02020603050405020304" pitchFamily="18" charset="0"/>
            </a:endParaRPr>
          </a:p>
          <a:p>
            <a:r>
              <a:rPr lang="en-US" sz="9600" dirty="0" smtClean="0">
                <a:latin typeface="Times New Roman" panose="02020603050405020304" pitchFamily="18" charset="0"/>
                <a:cs typeface="Times New Roman" panose="02020603050405020304" pitchFamily="18" charset="0"/>
              </a:rPr>
              <a:t> Facultyguide :                                 Industrial guide :</a:t>
            </a:r>
            <a:r>
              <a:rPr lang="en-US" sz="9600" dirty="0" err="1" smtClean="0">
                <a:latin typeface="Times New Roman" panose="02020603050405020304" pitchFamily="18" charset="0"/>
                <a:cs typeface="Times New Roman" panose="02020603050405020304" pitchFamily="18" charset="0"/>
              </a:rPr>
              <a:t>Mr.Rajan</a:t>
            </a:r>
            <a:endParaRPr lang="en-US" sz="9600" dirty="0" smtClean="0">
              <a:latin typeface="Times New Roman" panose="02020603050405020304" pitchFamily="18" charset="0"/>
              <a:cs typeface="Times New Roman" panose="02020603050405020304" pitchFamily="18" charset="0"/>
            </a:endParaRPr>
          </a:p>
          <a:p>
            <a:r>
              <a:rPr lang="en-US" sz="9600" dirty="0" smtClean="0">
                <a:latin typeface="Times New Roman" panose="02020603050405020304" pitchFamily="18" charset="0"/>
                <a:cs typeface="Times New Roman" panose="02020603050405020304" pitchFamily="18" charset="0"/>
              </a:rPr>
              <a:t> </a:t>
            </a:r>
            <a:r>
              <a:rPr lang="en-US" sz="9600" dirty="0" err="1" smtClean="0">
                <a:latin typeface="Times New Roman" panose="02020603050405020304" pitchFamily="18" charset="0"/>
                <a:cs typeface="Times New Roman" panose="02020603050405020304" pitchFamily="18" charset="0"/>
              </a:rPr>
              <a:t>Mrs.C.Sangeetha</a:t>
            </a:r>
            <a:r>
              <a:rPr lang="en-US" sz="9600" dirty="0" smtClean="0">
                <a:latin typeface="Times New Roman" panose="02020603050405020304" pitchFamily="18" charset="0"/>
                <a:cs typeface="Times New Roman" panose="02020603050405020304" pitchFamily="18" charset="0"/>
              </a:rPr>
              <a:t>                                        </a:t>
            </a:r>
            <a:endParaRPr lang="en-US" sz="9600" dirty="0">
              <a:latin typeface="Times New Roman" panose="02020603050405020304" pitchFamily="18" charset="0"/>
              <a:cs typeface="Times New Roman" panose="02020603050405020304" pitchFamily="18" charset="0"/>
            </a:endParaRPr>
          </a:p>
          <a:p>
            <a:r>
              <a:rPr lang="en-US" sz="9600" dirty="0">
                <a:latin typeface="Times New Roman" panose="02020603050405020304" pitchFamily="18" charset="0"/>
                <a:cs typeface="Times New Roman" panose="02020603050405020304" pitchFamily="18" charset="0"/>
              </a:rPr>
              <a:t> </a:t>
            </a:r>
            <a:r>
              <a:rPr lang="en-US" sz="9600" dirty="0" smtClean="0">
                <a:latin typeface="Times New Roman" panose="02020603050405020304" pitchFamily="18" charset="0"/>
                <a:cs typeface="Times New Roman" panose="02020603050405020304" pitchFamily="18" charset="0"/>
              </a:rPr>
              <a:t>Assistant professor			  </a:t>
            </a:r>
            <a:endParaRPr lang="en-US" sz="9600" dirty="0">
              <a:latin typeface="Times New Roman" panose="02020603050405020304" pitchFamily="18" charset="0"/>
              <a:cs typeface="Times New Roman" panose="02020603050405020304" pitchFamily="18" charset="0"/>
            </a:endParaRPr>
          </a:p>
          <a:p>
            <a:r>
              <a:rPr lang="en-US" sz="9600" dirty="0" smtClean="0">
                <a:latin typeface="Times New Roman" panose="02020603050405020304" pitchFamily="18" charset="0"/>
                <a:cs typeface="Times New Roman" panose="02020603050405020304" pitchFamily="18" charset="0"/>
              </a:rPr>
              <a:t>Department </a:t>
            </a:r>
            <a:r>
              <a:rPr lang="en-US" sz="9600" dirty="0">
                <a:latin typeface="Times New Roman" panose="02020603050405020304" pitchFamily="18" charset="0"/>
                <a:cs typeface="Times New Roman" panose="02020603050405020304" pitchFamily="18" charset="0"/>
              </a:rPr>
              <a:t>of </a:t>
            </a:r>
            <a:r>
              <a:rPr lang="en-US" sz="9600" dirty="0" smtClean="0">
                <a:latin typeface="Times New Roman" panose="02020603050405020304" pitchFamily="18" charset="0"/>
                <a:cs typeface="Times New Roman" panose="02020603050405020304" pitchFamily="18" charset="0"/>
              </a:rPr>
              <a:t>CSE</a:t>
            </a:r>
            <a:endParaRPr lang="en-US" sz="9600" dirty="0">
              <a:latin typeface="Times New Roman" panose="02020603050405020304" pitchFamily="18" charset="0"/>
              <a:cs typeface="Times New Roman" panose="02020603050405020304" pitchFamily="18" charset="0"/>
            </a:endParaRPr>
          </a:p>
          <a:p>
            <a:r>
              <a:rPr lang="en-US" sz="9600" dirty="0">
                <a:latin typeface="Times New Roman" panose="02020603050405020304" pitchFamily="18" charset="0"/>
                <a:cs typeface="Times New Roman" panose="02020603050405020304" pitchFamily="18" charset="0"/>
              </a:rPr>
              <a:t>  		</a:t>
            </a:r>
          </a:p>
        </p:txBody>
      </p:sp>
      <p:sp>
        <p:nvSpPr>
          <p:cNvPr id="4" name="TextBox 3"/>
          <p:cNvSpPr txBox="1"/>
          <p:nvPr/>
        </p:nvSpPr>
        <p:spPr>
          <a:xfrm>
            <a:off x="0" y="6477000"/>
            <a:ext cx="9144000" cy="381000"/>
          </a:xfrm>
          <a:prstGeom prst="rect">
            <a:avLst/>
          </a:prstGeom>
          <a:solidFill>
            <a:schemeClr val="accent1"/>
          </a:solidFill>
          <a:ln>
            <a:solidFill>
              <a:schemeClr val="accent1"/>
            </a:solidFill>
          </a:ln>
        </p:spPr>
        <p:txBody>
          <a:bodyPr wrap="square" rtlCol="0">
            <a:spAutoFit/>
          </a:bodyPr>
          <a:lstStyle/>
          <a:p>
            <a:pPr algn="ctr"/>
            <a:r>
              <a:rPr lang="en-US" dirty="0" smtClean="0">
                <a:solidFill>
                  <a:schemeClr val="bg1"/>
                </a:solidFill>
              </a:rPr>
              <a:t>Department of CSE, KGiSL Institute of Technology, Coimbatore</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304800"/>
            <a:ext cx="7772400" cy="1066800"/>
          </a:xfrm>
        </p:spPr>
        <p:txBody>
          <a:bodyPr/>
          <a:lstStyle/>
          <a:p>
            <a:r>
              <a:rPr lang="en-IN" dirty="0" smtClean="0">
                <a:latin typeface="Times New Roman" panose="02020603050405020304" pitchFamily="18" charset="0"/>
                <a:cs typeface="Times New Roman" panose="02020603050405020304" pitchFamily="18" charset="0"/>
              </a:rPr>
              <a:t>Agenda</a:t>
            </a:r>
            <a:endParaRPr lang="en-US" dirty="0"/>
          </a:p>
        </p:txBody>
      </p:sp>
      <p:sp>
        <p:nvSpPr>
          <p:cNvPr id="3" name="Text Placeholder 2"/>
          <p:cNvSpPr>
            <a:spLocks noGrp="1"/>
          </p:cNvSpPr>
          <p:nvPr>
            <p:ph type="body" idx="1"/>
          </p:nvPr>
        </p:nvSpPr>
        <p:spPr>
          <a:xfrm>
            <a:off x="530352" y="1524000"/>
            <a:ext cx="7772400" cy="4876800"/>
          </a:xfrm>
        </p:spPr>
        <p:txBody>
          <a:bodyPr>
            <a:normAutofit/>
          </a:bodyPr>
          <a:lstStyle/>
          <a:p>
            <a:pPr>
              <a:buFont typeface="Wingdings" pitchFamily="2" charset="2"/>
              <a:buChar char="q"/>
            </a:pPr>
            <a:r>
              <a:rPr lang="en-IN" dirty="0" smtClean="0">
                <a:latin typeface="Times New Roman" panose="02020603050405020304" pitchFamily="18" charset="0"/>
                <a:cs typeface="Times New Roman" panose="02020603050405020304" pitchFamily="18" charset="0"/>
              </a:rPr>
              <a:t>Abstract</a:t>
            </a:r>
          </a:p>
          <a:p>
            <a:pPr>
              <a:buFont typeface="Wingdings" pitchFamily="2" charset="2"/>
              <a:buChar char="q"/>
            </a:pPr>
            <a:r>
              <a:rPr lang="en-IN" dirty="0" smtClean="0">
                <a:latin typeface="Times New Roman" panose="02020603050405020304" pitchFamily="18" charset="0"/>
                <a:cs typeface="Times New Roman" panose="02020603050405020304" pitchFamily="18" charset="0"/>
              </a:rPr>
              <a:t>Objective &amp; Outcome</a:t>
            </a:r>
          </a:p>
          <a:p>
            <a:pPr>
              <a:buFont typeface="Wingdings" pitchFamily="2" charset="2"/>
              <a:buChar char="q"/>
            </a:pPr>
            <a:r>
              <a:rPr lang="en-IN" dirty="0" smtClean="0">
                <a:latin typeface="Times New Roman" panose="02020603050405020304" pitchFamily="18" charset="0"/>
                <a:cs typeface="Times New Roman" panose="02020603050405020304" pitchFamily="18" charset="0"/>
              </a:rPr>
              <a:t>Introduction</a:t>
            </a:r>
          </a:p>
          <a:p>
            <a:pPr>
              <a:buFont typeface="Wingdings" pitchFamily="2" charset="2"/>
              <a:buChar char="q"/>
            </a:pPr>
            <a:r>
              <a:rPr lang="en-IN" dirty="0" smtClean="0">
                <a:latin typeface="Times New Roman" panose="02020603050405020304" pitchFamily="18" charset="0"/>
                <a:cs typeface="Times New Roman" panose="02020603050405020304" pitchFamily="18" charset="0"/>
              </a:rPr>
              <a:t>Area introduction - existing system</a:t>
            </a:r>
          </a:p>
          <a:p>
            <a:pPr>
              <a:buFont typeface="Wingdings" pitchFamily="2" charset="2"/>
              <a:buChar char="q"/>
            </a:pPr>
            <a:r>
              <a:rPr lang="en-US" sz="2000" dirty="0" smtClean="0">
                <a:latin typeface="Times New Roman" pitchFamily="18" charset="0"/>
                <a:cs typeface="Times New Roman" pitchFamily="18" charset="0"/>
              </a:rPr>
              <a:t>Proposed System</a:t>
            </a:r>
            <a:endParaRPr lang="en-IN" sz="2000" dirty="0" smtClean="0">
              <a:latin typeface="Times New Roman" pitchFamily="18" charset="0"/>
              <a:cs typeface="Times New Roman" pitchFamily="18" charset="0"/>
            </a:endParaRPr>
          </a:p>
          <a:p>
            <a:pPr>
              <a:buFont typeface="Wingdings" pitchFamily="2" charset="2"/>
              <a:buChar char="q"/>
            </a:pPr>
            <a:r>
              <a:rPr lang="en-IN" dirty="0" smtClean="0">
                <a:latin typeface="Times New Roman" pitchFamily="18" charset="0"/>
                <a:cs typeface="Times New Roman" pitchFamily="18" charset="0"/>
              </a:rPr>
              <a:t>Literature Review</a:t>
            </a:r>
          </a:p>
          <a:p>
            <a:pPr>
              <a:buFont typeface="Wingdings" pitchFamily="2" charset="2"/>
              <a:buChar char="q"/>
            </a:pPr>
            <a:r>
              <a:rPr lang="en-IN" dirty="0" smtClean="0">
                <a:latin typeface="Times New Roman" pitchFamily="18" charset="0"/>
                <a:cs typeface="Times New Roman" pitchFamily="18" charset="0"/>
              </a:rPr>
              <a:t>Architectural Diagram</a:t>
            </a:r>
          </a:p>
          <a:p>
            <a:pPr>
              <a:buFont typeface="Wingdings" pitchFamily="2" charset="2"/>
              <a:buChar char="q"/>
            </a:pPr>
            <a:r>
              <a:rPr lang="en-IN" dirty="0" smtClean="0">
                <a:latin typeface="Times New Roman" pitchFamily="18" charset="0"/>
                <a:cs typeface="Times New Roman" pitchFamily="18" charset="0"/>
              </a:rPr>
              <a:t>Flow chart</a:t>
            </a:r>
          </a:p>
          <a:p>
            <a:pPr>
              <a:buFont typeface="Wingdings" pitchFamily="2" charset="2"/>
              <a:buChar char="q"/>
            </a:pPr>
            <a:r>
              <a:rPr lang="en-IN" dirty="0" smtClean="0">
                <a:latin typeface="Times New Roman" pitchFamily="18" charset="0"/>
                <a:cs typeface="Times New Roman" pitchFamily="18" charset="0"/>
              </a:rPr>
              <a:t>Data flow diagrams</a:t>
            </a:r>
          </a:p>
          <a:p>
            <a:pPr>
              <a:buFont typeface="Wingdings" pitchFamily="2" charset="2"/>
              <a:buChar char="q"/>
            </a:pPr>
            <a:r>
              <a:rPr lang="en-IN" dirty="0" smtClean="0">
                <a:latin typeface="Times New Roman" pitchFamily="18" charset="0"/>
                <a:cs typeface="Times New Roman" pitchFamily="18" charset="0"/>
              </a:rPr>
              <a:t>Module split-up</a:t>
            </a:r>
          </a:p>
          <a:p>
            <a:pPr>
              <a:buFont typeface="Wingdings" pitchFamily="2" charset="2"/>
              <a:buChar char="q"/>
            </a:pPr>
            <a:r>
              <a:rPr lang="en-IN" dirty="0" smtClean="0">
                <a:latin typeface="Times New Roman" pitchFamily="18" charset="0"/>
                <a:cs typeface="Times New Roman" pitchFamily="18" charset="0"/>
              </a:rPr>
              <a:t>Screenshots</a:t>
            </a:r>
            <a:endParaRPr lang="en-IN" dirty="0">
              <a:latin typeface="Times New Roman" panose="02020603050405020304" pitchFamily="18" charset="0"/>
              <a:cs typeface="Times New Roman" panose="02020603050405020304" pitchFamily="18" charset="0"/>
            </a:endParaRPr>
          </a:p>
        </p:txBody>
      </p:sp>
      <p:sp>
        <p:nvSpPr>
          <p:cNvPr id="4" name="TextBox 3"/>
          <p:cNvSpPr txBox="1"/>
          <p:nvPr/>
        </p:nvSpPr>
        <p:spPr>
          <a:xfrm>
            <a:off x="0" y="6457890"/>
            <a:ext cx="9144000" cy="400110"/>
          </a:xfrm>
          <a:prstGeom prst="rect">
            <a:avLst/>
          </a:prstGeom>
          <a:solidFill>
            <a:schemeClr val="bg2">
              <a:lumMod val="75000"/>
            </a:schemeClr>
          </a:solidFill>
          <a:ln>
            <a:solidFill>
              <a:schemeClr val="accent1"/>
            </a:solidFill>
          </a:ln>
        </p:spPr>
        <p:txBody>
          <a:bodyPr wrap="square" rtlCol="0">
            <a:spAutoFit/>
          </a:bodyPr>
          <a:lstStyle/>
          <a:p>
            <a:pPr algn="ctr"/>
            <a:r>
              <a:rPr lang="en-US" sz="2000" dirty="0" smtClean="0"/>
              <a:t>Department of CSE, KGiSL Institute of Technology, Coimbatore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t> </a:t>
            </a:r>
            <a:br>
              <a:rPr lang="en-US" sz="4400" dirty="0" smtClean="0"/>
            </a:br>
            <a:r>
              <a:rPr lang="en-US" sz="4400" dirty="0"/>
              <a:t/>
            </a:r>
            <a:br>
              <a:rPr lang="en-US" sz="4400" dirty="0"/>
            </a:br>
            <a:r>
              <a:rPr lang="en-US" sz="4400" dirty="0" smtClean="0"/>
              <a:t/>
            </a:r>
            <a:br>
              <a:rPr lang="en-US" sz="4400" dirty="0" smtClean="0"/>
            </a:br>
            <a:r>
              <a:rPr lang="en-US" sz="4400" dirty="0"/>
              <a:t/>
            </a:r>
            <a:br>
              <a:rPr lang="en-US" sz="4400" dirty="0"/>
            </a:br>
            <a:r>
              <a:rPr lang="en-US" sz="4400" dirty="0" smtClean="0"/>
              <a:t/>
            </a:r>
            <a:br>
              <a:rPr lang="en-US" sz="4400" dirty="0" smtClean="0"/>
            </a:br>
            <a:r>
              <a:rPr lang="en-US" sz="4400" dirty="0"/>
              <a:t/>
            </a:r>
            <a:br>
              <a:rPr lang="en-US" sz="4400" dirty="0"/>
            </a:br>
            <a:r>
              <a:rPr lang="en-US" sz="4400" dirty="0" smtClean="0"/>
              <a:t/>
            </a:r>
            <a:br>
              <a:rPr lang="en-US" sz="4400" dirty="0" smtClean="0"/>
            </a:br>
            <a:r>
              <a:rPr lang="en-US" sz="4400" dirty="0" smtClean="0"/>
              <a:t>Abstract</a:t>
            </a:r>
            <a:br>
              <a:rPr lang="en-US" sz="4400" dirty="0" smtClean="0"/>
            </a:br>
            <a:endParaRPr lang="en-US" sz="4400" dirty="0">
              <a:latin typeface="Cambria" panose="02040503050406030204" pitchFamily="18" charset="0"/>
            </a:endParaRPr>
          </a:p>
        </p:txBody>
      </p:sp>
      <p:sp>
        <p:nvSpPr>
          <p:cNvPr id="3" name="Content Placeholder 2"/>
          <p:cNvSpPr>
            <a:spLocks noGrp="1"/>
          </p:cNvSpPr>
          <p:nvPr>
            <p:ph idx="1"/>
          </p:nvPr>
        </p:nvSpPr>
        <p:spPr/>
        <p:txBody>
          <a:bodyPr/>
          <a:lstStyle/>
          <a:p>
            <a:pPr marL="708660" lvl="1" indent="-342900" algn="just">
              <a:buFont typeface="Wingdings" panose="05000000000000000000" pitchFamily="2" charset="2"/>
              <a:buChar char="Ø"/>
            </a:pPr>
            <a:r>
              <a:rPr lang="en-IN" altLang="en-US" dirty="0" smtClean="0"/>
              <a:t> </a:t>
            </a:r>
            <a:r>
              <a:rPr lang="en-US" dirty="0"/>
              <a:t>In our project we are going to do excel automation using RPA</a:t>
            </a:r>
            <a:r>
              <a:rPr lang="en-US" dirty="0" smtClean="0"/>
              <a:t>. It </a:t>
            </a:r>
            <a:r>
              <a:rPr lang="en-US" dirty="0"/>
              <a:t>contains activities that enable you to read information from a cell</a:t>
            </a:r>
            <a:r>
              <a:rPr lang="en-US" dirty="0" smtClean="0"/>
              <a:t>, columns, rows </a:t>
            </a:r>
            <a:r>
              <a:rPr lang="en-US" dirty="0"/>
              <a:t>or ranges, write to other spreadsheets or workbooks, execute macros, and even extract </a:t>
            </a:r>
            <a:r>
              <a:rPr lang="en-US" dirty="0" smtClean="0"/>
              <a:t>formulas. Our </a:t>
            </a:r>
            <a:r>
              <a:rPr lang="en-US" dirty="0"/>
              <a:t>project is about automatically filling the details in the excel sheet to the google form. </a:t>
            </a:r>
            <a:r>
              <a:rPr lang="en-US" dirty="0">
                <a:latin typeface="Cambria" panose="02040503050406030204" pitchFamily="18" charset="0"/>
              </a:rPr>
              <a:t>We now have a nice show case that proves how this kind of automation can lead to more efficient organizations.</a:t>
            </a:r>
            <a:endParaRPr lang="en-US" dirty="0"/>
          </a:p>
          <a:p>
            <a:pPr marL="708660" lvl="1" indent="-342900">
              <a:buFont typeface="Wingdings" panose="05000000000000000000" pitchFamily="2" charset="2"/>
              <a:buChar char="Ø"/>
            </a:pPr>
            <a:endParaRPr lang="en-IN" altLang="en-US" dirty="0" smtClean="0"/>
          </a:p>
          <a:p>
            <a:pPr marL="365760" lvl="1" indent="0">
              <a:buNone/>
            </a:pPr>
            <a:endParaRPr lang="en-IN" altLang="en-US" dirty="0" smtClean="0"/>
          </a:p>
          <a:p>
            <a:pPr marL="0" indent="0">
              <a:buNone/>
            </a:pPr>
            <a:endParaRPr lang="en-IN" altLang="en-US" dirty="0" smtClean="0"/>
          </a:p>
          <a:p>
            <a:pPr marL="0" indent="0">
              <a:buNone/>
            </a:pPr>
            <a:endParaRPr lang="en-IN" altLang="en-US" dirty="0"/>
          </a:p>
        </p:txBody>
      </p:sp>
      <p:sp>
        <p:nvSpPr>
          <p:cNvPr id="5" name="TextBox 4"/>
          <p:cNvSpPr txBox="1"/>
          <p:nvPr/>
        </p:nvSpPr>
        <p:spPr>
          <a:xfrm>
            <a:off x="0" y="6477000"/>
            <a:ext cx="9144000" cy="3683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Objectives And Outcome</a:t>
            </a:r>
            <a:endParaRPr lang="en-US" dirty="0"/>
          </a:p>
        </p:txBody>
      </p:sp>
      <p:sp>
        <p:nvSpPr>
          <p:cNvPr id="8" name="Content Placeholder 7"/>
          <p:cNvSpPr>
            <a:spLocks noGrp="1"/>
          </p:cNvSpPr>
          <p:nvPr>
            <p:ph idx="1"/>
          </p:nvPr>
        </p:nvSpPr>
        <p:spPr/>
        <p:txBody>
          <a:bodyPr>
            <a:normAutofit/>
          </a:bodyPr>
          <a:lstStyle/>
          <a:p>
            <a:pPr lvl="1">
              <a:buNone/>
            </a:pPr>
            <a:r>
              <a:rPr lang="en-US" b="1" dirty="0" smtClean="0"/>
              <a:t>Objectives:</a:t>
            </a:r>
          </a:p>
          <a:p>
            <a:pPr lvl="1" algn="just">
              <a:buNone/>
            </a:pPr>
            <a:r>
              <a:rPr lang="en-US" dirty="0" smtClean="0"/>
              <a:t>		The  main Objective of the project is to develop a system that automates the process of placement recruitment from the excel data.</a:t>
            </a:r>
          </a:p>
          <a:p>
            <a:pPr lvl="1">
              <a:buNone/>
            </a:pPr>
            <a:endParaRPr lang="en-US" dirty="0" smtClean="0"/>
          </a:p>
          <a:p>
            <a:pPr lvl="1">
              <a:buNone/>
            </a:pPr>
            <a:r>
              <a:rPr lang="en-US" b="1" dirty="0" smtClean="0"/>
              <a:t>Outcomes:</a:t>
            </a:r>
          </a:p>
          <a:p>
            <a:pPr lvl="1" algn="just">
              <a:buNone/>
            </a:pPr>
            <a:r>
              <a:rPr lang="en-US" dirty="0" smtClean="0"/>
              <a:t>		The placement recruiter could easily filter the candidates appearing for the placement drive and could judge the performance based on the Graphs and charts.</a:t>
            </a:r>
          </a:p>
        </p:txBody>
      </p:sp>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of RPA</a:t>
            </a:r>
            <a:endParaRPr lang="en-US" dirty="0"/>
          </a:p>
        </p:txBody>
      </p:sp>
      <p:sp>
        <p:nvSpPr>
          <p:cNvPr id="3" name="Content Placeholder 2"/>
          <p:cNvSpPr>
            <a:spLocks noGrp="1"/>
          </p:cNvSpPr>
          <p:nvPr>
            <p:ph idx="1"/>
          </p:nvPr>
        </p:nvSpPr>
        <p:spPr>
          <a:xfrm>
            <a:off x="457200" y="1905000"/>
            <a:ext cx="8229600" cy="4389120"/>
          </a:xfrm>
        </p:spPr>
        <p:txBody>
          <a:bodyPr>
            <a:normAutofit/>
          </a:bodyPr>
          <a:lstStyle/>
          <a:p>
            <a:pPr algn="just"/>
            <a:r>
              <a:rPr lang="en-US" dirty="0" smtClean="0">
                <a:latin typeface="Times New Roman" panose="02020603050405020304" pitchFamily="18" charset="0"/>
                <a:cs typeface="Times New Roman" panose="02020603050405020304" pitchFamily="18" charset="0"/>
              </a:rPr>
              <a:t>Robotic Process Automation(RPA) is a software-based technology utilizing software robots to emulate human execution of a business process. RPA captures data, runs applications, triggers responses, and communicates with other systems to perform a variety of tasks - </a:t>
            </a:r>
            <a:r>
              <a:rPr lang="en-US" dirty="0" err="1" smtClean="0">
                <a:latin typeface="Times New Roman" panose="02020603050405020304" pitchFamily="18" charset="0"/>
                <a:cs typeface="Times New Roman" panose="02020603050405020304" pitchFamily="18" charset="0"/>
              </a:rPr>
              <a:t>Uipath</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RPA doesn't require programming skills. Employees with any subject expertise can be trained to automate RPA tools instantly.</a:t>
            </a:r>
            <a:endParaRPr lang="en-IN" dirty="0" smtClean="0">
              <a:latin typeface="Times New Roman" panose="02020603050405020304" pitchFamily="18" charset="0"/>
              <a:cs typeface="Times New Roman" panose="02020603050405020304" pitchFamily="18" charset="0"/>
            </a:endParaRPr>
          </a:p>
          <a:p>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4294967295"/>
          </p:nvPr>
        </p:nvSpPr>
        <p:spPr>
          <a:xfrm>
            <a:off x="304800" y="1219200"/>
            <a:ext cx="8534400" cy="5181600"/>
          </a:xfrm>
        </p:spPr>
        <p:txBody>
          <a:bodyPr/>
          <a:lstStyle/>
          <a:p>
            <a:pPr algn="just"/>
            <a:r>
              <a:rPr lang="en-US" dirty="0" smtClean="0">
                <a:latin typeface="Times New Roman" panose="02020603050405020304" pitchFamily="18" charset="0"/>
                <a:cs typeface="Times New Roman" panose="02020603050405020304" pitchFamily="18" charset="0"/>
              </a:rPr>
              <a:t>Any interaction between a human and a computer can be automated. However, processes with repeatable, predictable interactions with IT applications are best suited for RPA. Automation can improve the effectiveness and efficiency of these processes without changing the underlining systems.</a:t>
            </a:r>
            <a:endParaRPr lang="en-IN" dirty="0" smtClean="0">
              <a:latin typeface="Times New Roman" panose="02020603050405020304" pitchFamily="18" charset="0"/>
              <a:cs typeface="Times New Roman" panose="02020603050405020304" pitchFamily="18" charset="0"/>
            </a:endParaRPr>
          </a:p>
          <a:p>
            <a:endParaRPr lang="en-US" dirty="0"/>
          </a:p>
        </p:txBody>
      </p:sp>
      <p:sp>
        <p:nvSpPr>
          <p:cNvPr id="3" name="TextBox 2"/>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Calibri" panose="020F0502020204030204" pitchFamily="34" charset="0"/>
                <a:cs typeface="Calibri" panose="020F0502020204030204" pitchFamily="34" charset="0"/>
              </a:rPr>
              <a:t>Area Introduction-Existing system</a:t>
            </a:r>
            <a:endParaRPr lang="en-US" sz="44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a:bodyPr>
          <a:lstStyle/>
          <a:p>
            <a:pPr algn="just"/>
            <a:r>
              <a:rPr lang="en-IN" dirty="0"/>
              <a:t>Excel automation streamlines </a:t>
            </a:r>
            <a:r>
              <a:rPr lang="en-IN" dirty="0" smtClean="0"/>
              <a:t>our </a:t>
            </a:r>
            <a:r>
              <a:rPr lang="en-IN" dirty="0"/>
              <a:t>use of the application by automatically performing tasks like formatting cells, updating values, </a:t>
            </a:r>
            <a:r>
              <a:rPr lang="en-IN" dirty="0" smtClean="0"/>
              <a:t>and running macros. </a:t>
            </a:r>
            <a:endParaRPr lang="en-IN" dirty="0"/>
          </a:p>
          <a:p>
            <a:pPr algn="just"/>
            <a:r>
              <a:rPr lang="en-IN" dirty="0"/>
              <a:t>Across businesses of all sizes and across industries, one tool is ubiquitous—the Microsoft Excel spreadsheet. </a:t>
            </a:r>
          </a:p>
          <a:p>
            <a:pPr algn="just"/>
            <a:r>
              <a:rPr lang="en-IN" dirty="0"/>
              <a:t>Automate can automatically execute the same steps you would perform when working with spreadsheets, such as formatting cells or updating values. </a:t>
            </a:r>
            <a:br>
              <a:rPr lang="en-IN" dirty="0"/>
            </a:br>
            <a:endParaRPr lang="en-IN" altLang="en-US" dirty="0"/>
          </a:p>
        </p:txBody>
      </p:sp>
      <p:sp>
        <p:nvSpPr>
          <p:cNvPr id="4" name="TextBox 3"/>
          <p:cNvSpPr txBox="1"/>
          <p:nvPr/>
        </p:nvSpPr>
        <p:spPr>
          <a:xfrm>
            <a:off x="0" y="6477000"/>
            <a:ext cx="9144000" cy="3683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Calibri" panose="020F0502020204030204" pitchFamily="34" charset="0"/>
                <a:cs typeface="Calibri" panose="020F0502020204030204" pitchFamily="34" charset="0"/>
              </a:rPr>
              <a:t>Proposed System</a:t>
            </a:r>
            <a:endParaRPr lang="en-US" sz="44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57200" y="1935480"/>
            <a:ext cx="8467090" cy="4453890"/>
          </a:xfrm>
        </p:spPr>
        <p:txBody>
          <a:bodyPr>
            <a:normAutofit fontScale="97500" lnSpcReduction="10000"/>
          </a:bodyPr>
          <a:lstStyle/>
          <a:p>
            <a:pPr algn="just">
              <a:buFont typeface="Wingdings" panose="05000000000000000000" pitchFamily="2" charset="2"/>
              <a:buChar char="Ø"/>
            </a:pPr>
            <a:r>
              <a:rPr lang="en-IN" altLang="en-US" dirty="0"/>
              <a:t>The </a:t>
            </a:r>
            <a:r>
              <a:rPr lang="en-IN" altLang="en-US" dirty="0" smtClean="0"/>
              <a:t>excel automation </a:t>
            </a:r>
            <a:r>
              <a:rPr lang="en-IN" altLang="en-US" dirty="0"/>
              <a:t>is used to </a:t>
            </a:r>
            <a:r>
              <a:rPr lang="en-IN" altLang="en-US" dirty="0" smtClean="0"/>
              <a:t>overcome </a:t>
            </a:r>
            <a:r>
              <a:rPr lang="en-IN" altLang="en-US" dirty="0"/>
              <a:t>the entire problem which </a:t>
            </a:r>
            <a:r>
              <a:rPr lang="en-IN" altLang="en-US" dirty="0" smtClean="0"/>
              <a:t>we </a:t>
            </a:r>
            <a:r>
              <a:rPr lang="en-IN" altLang="en-US" dirty="0"/>
              <a:t>are facing currently</a:t>
            </a:r>
            <a:r>
              <a:rPr lang="en-IN" altLang="en-US" dirty="0" smtClean="0"/>
              <a:t>, and </a:t>
            </a:r>
            <a:r>
              <a:rPr lang="en-IN" altLang="en-US" dirty="0"/>
              <a:t>making complete automation </a:t>
            </a:r>
            <a:r>
              <a:rPr lang="en-IN" altLang="en-US" dirty="0" smtClean="0"/>
              <a:t>of filling details from excel sheet to google form.</a:t>
            </a:r>
            <a:endParaRPr lang="en-IN" altLang="en-US" dirty="0"/>
          </a:p>
          <a:p>
            <a:pPr algn="just">
              <a:buFont typeface="Wingdings" panose="05000000000000000000" pitchFamily="2" charset="2"/>
              <a:buChar char="Ø"/>
            </a:pPr>
            <a:r>
              <a:rPr lang="en-IN" altLang="en-US" dirty="0" smtClean="0"/>
              <a:t>The </a:t>
            </a:r>
            <a:r>
              <a:rPr lang="en-IN" altLang="en-US" dirty="0"/>
              <a:t>process consists out of the selection of the </a:t>
            </a:r>
            <a:r>
              <a:rPr lang="en-IN" altLang="en-US" dirty="0" smtClean="0"/>
              <a:t>right data in a excel sheet.</a:t>
            </a:r>
            <a:endParaRPr lang="en-IN" altLang="en-US" dirty="0"/>
          </a:p>
          <a:p>
            <a:pPr marL="708660" lvl="1" indent="-342900" algn="just">
              <a:buFont typeface="Wingdings" panose="05000000000000000000" pitchFamily="2" charset="2"/>
              <a:buChar char="q"/>
            </a:pPr>
            <a:r>
              <a:rPr lang="en-IN" altLang="en-US" dirty="0"/>
              <a:t>For the RPA </a:t>
            </a:r>
            <a:r>
              <a:rPr lang="en-IN" altLang="en-US" dirty="0" smtClean="0"/>
              <a:t>it doesn’t matter that how much data is to be automated.</a:t>
            </a:r>
            <a:endParaRPr lang="en-IN" altLang="en-US" dirty="0"/>
          </a:p>
          <a:p>
            <a:pPr algn="just">
              <a:buFont typeface="Wingdings" panose="05000000000000000000" pitchFamily="2" charset="2"/>
              <a:buChar char="Ø"/>
            </a:pPr>
            <a:r>
              <a:rPr lang="en-IN" altLang="en-US" dirty="0" smtClean="0"/>
              <a:t> </a:t>
            </a:r>
            <a:r>
              <a:rPr lang="en-IN" altLang="en-US" dirty="0"/>
              <a:t>S</a:t>
            </a:r>
            <a:r>
              <a:rPr lang="en-IN" altLang="en-US" dirty="0" smtClean="0"/>
              <a:t>et the google form with the necessary details which are given in the excel sheet.</a:t>
            </a:r>
            <a:endParaRPr lang="en-IN" altLang="en-US" dirty="0"/>
          </a:p>
          <a:p>
            <a:pPr algn="just">
              <a:buFont typeface="Wingdings" panose="05000000000000000000" pitchFamily="2" charset="2"/>
              <a:buChar char="Ø"/>
            </a:pPr>
            <a:r>
              <a:rPr lang="en-IN" altLang="en-US" dirty="0" smtClean="0"/>
              <a:t>After that we have to attach   the browser link in the </a:t>
            </a:r>
            <a:r>
              <a:rPr lang="en-IN" altLang="en-US" dirty="0" err="1" smtClean="0"/>
              <a:t>uipath</a:t>
            </a:r>
            <a:r>
              <a:rPr lang="en-IN" altLang="en-US" dirty="0" smtClean="0"/>
              <a:t> for the automation.</a:t>
            </a:r>
            <a:endParaRPr lang="en-IN" altLang="en-US" dirty="0"/>
          </a:p>
          <a:p>
            <a:pPr marL="365760" lvl="1" indent="0">
              <a:buNone/>
            </a:pPr>
            <a:endParaRPr lang="en-IN" altLang="en-US" dirty="0"/>
          </a:p>
          <a:p>
            <a:endParaRPr lang="en-IN" altLang="en-US" dirty="0"/>
          </a:p>
          <a:p>
            <a:endParaRPr lang="en-IN" altLang="en-US" dirty="0"/>
          </a:p>
          <a:p>
            <a:endParaRPr lang="en-IN" altLang="en-US" dirty="0"/>
          </a:p>
          <a:p>
            <a:endParaRPr lang="en-IN" altLang="en-US" dirty="0"/>
          </a:p>
        </p:txBody>
      </p:sp>
      <p:sp>
        <p:nvSpPr>
          <p:cNvPr id="4" name="TextBox 3"/>
          <p:cNvSpPr txBox="1"/>
          <p:nvPr/>
        </p:nvSpPr>
        <p:spPr>
          <a:xfrm>
            <a:off x="0" y="6477000"/>
            <a:ext cx="9144000" cy="3683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Calibri" panose="020F0502020204030204" pitchFamily="34" charset="0"/>
                <a:cs typeface="Calibri" panose="020F0502020204030204" pitchFamily="34" charset="0"/>
              </a:rPr>
              <a:t>Literature Review</a:t>
            </a:r>
            <a:endParaRPr lang="en-US"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2400" y="1935480"/>
            <a:ext cx="8534400" cy="4389120"/>
          </a:xfrm>
        </p:spPr>
        <p:txBody>
          <a:bodyPr>
            <a:normAutofit lnSpcReduction="10000"/>
          </a:bodyPr>
          <a:lstStyle/>
          <a:p>
            <a:pPr marL="484505" indent="-457200"/>
            <a:r>
              <a:rPr lang="en-US" sz="2800" dirty="0" smtClean="0">
                <a:latin typeface="Cambria" panose="02040503050406030204" pitchFamily="18" charset="0"/>
              </a:rPr>
              <a:t>Drawbacks of existing system</a:t>
            </a:r>
          </a:p>
          <a:p>
            <a:pPr marL="0" indent="0">
              <a:buNone/>
            </a:pPr>
            <a:r>
              <a:rPr lang="en-US" sz="1800" dirty="0">
                <a:latin typeface="Cambria" panose="02040503050406030204" pitchFamily="18" charset="0"/>
              </a:rPr>
              <a:t>	</a:t>
            </a:r>
            <a:r>
              <a:rPr lang="en-US" sz="2400" dirty="0" smtClean="0">
                <a:latin typeface="Cambria" pitchFamily="18" charset="0"/>
              </a:rPr>
              <a:t>Since </a:t>
            </a:r>
            <a:r>
              <a:rPr lang="en-US" sz="2400" dirty="0">
                <a:latin typeface="Cambria" pitchFamily="18" charset="0"/>
              </a:rPr>
              <a:t>when a data file is too large, it can make the excel program run very slowly, especially if all the data is in one file</a:t>
            </a:r>
            <a:r>
              <a:rPr lang="en-US" sz="2400" dirty="0" smtClean="0">
                <a:latin typeface="Cambria" pitchFamily="18" charset="0"/>
              </a:rPr>
              <a:t>.</a:t>
            </a:r>
          </a:p>
          <a:p>
            <a:pPr marL="0" indent="0">
              <a:buNone/>
            </a:pPr>
            <a:r>
              <a:rPr lang="en-US" sz="2400" dirty="0">
                <a:latin typeface="Cambria" pitchFamily="18" charset="0"/>
              </a:rPr>
              <a:t>	</a:t>
            </a:r>
            <a:r>
              <a:rPr lang="en-US" sz="2400" dirty="0" smtClean="0">
                <a:latin typeface="Cambria" pitchFamily="18" charset="0"/>
              </a:rPr>
              <a:t>In existing model there is no choice of viewing the particular details and statistical analysis like graphs, charts etc.</a:t>
            </a:r>
            <a:endParaRPr lang="en-US" sz="2400" dirty="0">
              <a:latin typeface="Cambria" pitchFamily="18" charset="0"/>
            </a:endParaRPr>
          </a:p>
          <a:p>
            <a:pPr marL="0" indent="0">
              <a:buNone/>
            </a:pPr>
            <a:endParaRPr lang="en-US" sz="2400" dirty="0" smtClean="0">
              <a:latin typeface="Cambria" panose="02040503050406030204" pitchFamily="18" charset="0"/>
            </a:endParaRPr>
          </a:p>
          <a:p>
            <a:r>
              <a:rPr lang="en-US" sz="2800" dirty="0" smtClean="0">
                <a:latin typeface="Cambria" panose="02040503050406030204" pitchFamily="18" charset="0"/>
              </a:rPr>
              <a:t>References</a:t>
            </a:r>
          </a:p>
          <a:p>
            <a:pPr marL="708660" lvl="1" indent="-342900">
              <a:buFont typeface="Wingdings" panose="05000000000000000000" pitchFamily="2" charset="2"/>
              <a:buChar char="Ø"/>
            </a:pPr>
            <a:r>
              <a:rPr lang="en-US" b="1" u="sng" dirty="0">
                <a:solidFill>
                  <a:srgbClr val="0070C0"/>
                </a:solidFill>
                <a:latin typeface="Cambria" pitchFamily="18" charset="0"/>
              </a:rPr>
              <a:t>http://www.edureka.co/blog/uipath-automation</a:t>
            </a:r>
            <a:endParaRPr lang="en-US" dirty="0" smtClean="0">
              <a:latin typeface="Cambria" panose="02040503050406030204" pitchFamily="18" charset="0"/>
            </a:endParaRPr>
          </a:p>
          <a:p>
            <a:pPr marL="708660" lvl="1" indent="-342900">
              <a:buFont typeface="Wingdings" panose="05000000000000000000" pitchFamily="2" charset="2"/>
              <a:buChar char="Ø"/>
            </a:pPr>
            <a:r>
              <a:rPr lang="en-US" b="1" u="sng" dirty="0" smtClean="0">
                <a:solidFill>
                  <a:schemeClr val="accent1">
                    <a:lumMod val="75000"/>
                  </a:schemeClr>
                </a:solidFill>
                <a:latin typeface="Cambria" panose="02040503050406030204" pitchFamily="18" charset="0"/>
              </a:rPr>
              <a:t>http://xltools.net/excel-automation/</a:t>
            </a:r>
          </a:p>
          <a:p>
            <a:pPr marL="365760" lvl="1" indent="0">
              <a:buNone/>
            </a:pPr>
            <a:r>
              <a:rPr lang="en-US" dirty="0" smtClean="0">
                <a:latin typeface="Cambria" panose="02040503050406030204" pitchFamily="18" charset="0"/>
              </a:rPr>
              <a:t>  </a:t>
            </a:r>
            <a:endParaRPr lang="en-US" dirty="0">
              <a:latin typeface="Cambria" panose="02040503050406030204" pitchFamily="18" charset="0"/>
            </a:endParaRPr>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76238"/>
            <a:ext cx="8229600" cy="1143000"/>
          </a:xfrm>
        </p:spPr>
        <p:txBody>
          <a:bodyPr>
            <a:normAutofit/>
          </a:bodyPr>
          <a:lstStyle/>
          <a:p>
            <a:r>
              <a:rPr lang="en-US" sz="4400" dirty="0" smtClean="0">
                <a:latin typeface="Calibri" panose="020F0502020204030204" pitchFamily="34" charset="0"/>
                <a:cs typeface="Calibri" panose="020F0502020204030204" pitchFamily="34" charset="0"/>
              </a:rPr>
              <a:t>Architectural Design</a:t>
            </a:r>
            <a:endParaRPr lang="en-US" sz="2700" dirty="0"/>
          </a:p>
        </p:txBody>
      </p:sp>
      <p:sp>
        <p:nvSpPr>
          <p:cNvPr id="3" name="TextBox 2"/>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cxnSp>
        <p:nvCxnSpPr>
          <p:cNvPr id="8" name="Straight Arrow Connector 7"/>
          <p:cNvCxnSpPr/>
          <p:nvPr/>
        </p:nvCxnSpPr>
        <p:spPr>
          <a:xfrm>
            <a:off x="1225731" y="22383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045131" y="2238375"/>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381000" y="1929902"/>
            <a:ext cx="1104650" cy="6608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smtClean="0"/>
              <a:t> </a:t>
            </a:r>
            <a:r>
              <a:rPr lang="en-US" dirty="0" smtClean="0"/>
              <a:t>START</a:t>
            </a:r>
            <a:endParaRPr lang="en-US" dirty="0"/>
          </a:p>
        </p:txBody>
      </p:sp>
      <p:sp>
        <p:nvSpPr>
          <p:cNvPr id="12" name="Rectangle 11"/>
          <p:cNvSpPr/>
          <p:nvPr/>
        </p:nvSpPr>
        <p:spPr>
          <a:xfrm>
            <a:off x="2216331" y="1647825"/>
            <a:ext cx="1828800" cy="12001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 Open UI path</a:t>
            </a:r>
            <a:endParaRPr lang="en-US" dirty="0"/>
          </a:p>
        </p:txBody>
      </p:sp>
      <p:sp>
        <p:nvSpPr>
          <p:cNvPr id="15" name="Rectangle 14"/>
          <p:cNvSpPr/>
          <p:nvPr/>
        </p:nvSpPr>
        <p:spPr>
          <a:xfrm>
            <a:off x="2216331" y="3609975"/>
            <a:ext cx="19812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Excel Automation </a:t>
            </a:r>
            <a:endParaRPr lang="en-US" dirty="0"/>
          </a:p>
        </p:txBody>
      </p:sp>
      <p:cxnSp>
        <p:nvCxnSpPr>
          <p:cNvPr id="17" name="Straight Arrow Connector 16"/>
          <p:cNvCxnSpPr>
            <a:stCxn id="12" idx="2"/>
          </p:cNvCxnSpPr>
          <p:nvPr/>
        </p:nvCxnSpPr>
        <p:spPr>
          <a:xfrm>
            <a:off x="3130731" y="2847975"/>
            <a:ext cx="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4654731" y="1933575"/>
            <a:ext cx="2133600" cy="762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 Filling google form</a:t>
            </a:r>
            <a:endParaRPr lang="en-US" dirty="0"/>
          </a:p>
        </p:txBody>
      </p:sp>
      <p:cxnSp>
        <p:nvCxnSpPr>
          <p:cNvPr id="20" name="Straight Arrow Connector 19"/>
          <p:cNvCxnSpPr>
            <a:stCxn id="15" idx="3"/>
          </p:cNvCxnSpPr>
          <p:nvPr/>
        </p:nvCxnSpPr>
        <p:spPr>
          <a:xfrm flipV="1">
            <a:off x="4197531" y="4114800"/>
            <a:ext cx="679269" cy="28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6746965" y="4143375"/>
            <a:ext cx="6509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8179527" y="8458200"/>
            <a:ext cx="1" cy="404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7467600" y="5405439"/>
            <a:ext cx="1447800" cy="9001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Filtering </a:t>
            </a:r>
            <a:r>
              <a:rPr lang="en-US" dirty="0" err="1" smtClean="0"/>
              <a:t>detais</a:t>
            </a:r>
            <a:r>
              <a:rPr lang="en-US" dirty="0" smtClean="0"/>
              <a:t> </a:t>
            </a:r>
            <a:endParaRPr lang="en-US" dirty="0"/>
          </a:p>
        </p:txBody>
      </p:sp>
      <p:cxnSp>
        <p:nvCxnSpPr>
          <p:cNvPr id="55" name="Straight Arrow Connector 54"/>
          <p:cNvCxnSpPr/>
          <p:nvPr/>
        </p:nvCxnSpPr>
        <p:spPr>
          <a:xfrm flipH="1" flipV="1">
            <a:off x="5697584" y="2695576"/>
            <a:ext cx="3264" cy="657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7397931" y="3755433"/>
            <a:ext cx="1600200" cy="7905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Proceed charts from excel sheet</a:t>
            </a:r>
            <a:endParaRPr lang="en-US" dirty="0"/>
          </a:p>
        </p:txBody>
      </p:sp>
      <p:cxnSp>
        <p:nvCxnSpPr>
          <p:cNvPr id="14" name="Straight Arrow Connector 13"/>
          <p:cNvCxnSpPr>
            <a:stCxn id="9" idx="2"/>
            <a:endCxn id="45" idx="0"/>
          </p:cNvCxnSpPr>
          <p:nvPr/>
        </p:nvCxnSpPr>
        <p:spPr>
          <a:xfrm flipH="1">
            <a:off x="8191500" y="4546008"/>
            <a:ext cx="6531" cy="859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4953000" y="3276600"/>
            <a:ext cx="1828800" cy="1371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Main.xslm</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Chart</a:t>
            </a:r>
            <a:endParaRPr lang="en-US" dirty="0"/>
          </a:p>
        </p:txBody>
      </p:sp>
      <p:sp>
        <p:nvSpPr>
          <p:cNvPr id="3" name="Oval 2"/>
          <p:cNvSpPr/>
          <p:nvPr/>
        </p:nvSpPr>
        <p:spPr>
          <a:xfrm>
            <a:off x="3810000" y="1981200"/>
            <a:ext cx="1143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Start</a:t>
            </a:r>
            <a:endParaRPr lang="en-US" dirty="0">
              <a:solidFill>
                <a:schemeClr val="tx1"/>
              </a:solidFill>
            </a:endParaRPr>
          </a:p>
        </p:txBody>
      </p:sp>
      <p:sp>
        <p:nvSpPr>
          <p:cNvPr id="4" name="Rectangle 3"/>
          <p:cNvSpPr/>
          <p:nvPr/>
        </p:nvSpPr>
        <p:spPr>
          <a:xfrm>
            <a:off x="3352800" y="25146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Student Details</a:t>
            </a:r>
            <a:endParaRPr lang="en-US" dirty="0">
              <a:solidFill>
                <a:schemeClr val="tx1"/>
              </a:solidFill>
            </a:endParaRPr>
          </a:p>
        </p:txBody>
      </p:sp>
      <p:sp>
        <p:nvSpPr>
          <p:cNvPr id="5" name="Rectangle 4"/>
          <p:cNvSpPr/>
          <p:nvPr/>
        </p:nvSpPr>
        <p:spPr>
          <a:xfrm>
            <a:off x="3505200" y="3200400"/>
            <a:ext cx="1752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Excel Entry</a:t>
            </a:r>
            <a:endParaRPr lang="en-US" dirty="0">
              <a:solidFill>
                <a:schemeClr val="tx1"/>
              </a:solidFill>
            </a:endParaRPr>
          </a:p>
        </p:txBody>
      </p:sp>
      <p:sp>
        <p:nvSpPr>
          <p:cNvPr id="6" name="Rectangle 5"/>
          <p:cNvSpPr/>
          <p:nvPr/>
        </p:nvSpPr>
        <p:spPr>
          <a:xfrm>
            <a:off x="3048000" y="3886200"/>
            <a:ext cx="2667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Automate The Excel</a:t>
            </a:r>
          </a:p>
          <a:p>
            <a:pPr algn="ctr"/>
            <a:r>
              <a:rPr lang="en-US" dirty="0" smtClean="0">
                <a:solidFill>
                  <a:schemeClr val="tx1"/>
                </a:solidFill>
              </a:rPr>
              <a:t>Google Form Creation</a:t>
            </a:r>
            <a:endParaRPr lang="en-US" dirty="0">
              <a:solidFill>
                <a:schemeClr val="tx1"/>
              </a:solidFill>
            </a:endParaRPr>
          </a:p>
        </p:txBody>
      </p:sp>
      <p:sp>
        <p:nvSpPr>
          <p:cNvPr id="7" name="Rectangle 6"/>
          <p:cNvSpPr/>
          <p:nvPr/>
        </p:nvSpPr>
        <p:spPr>
          <a:xfrm>
            <a:off x="3276600" y="4572000"/>
            <a:ext cx="2209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Chart process</a:t>
            </a:r>
            <a:endParaRPr lang="en-US" dirty="0">
              <a:solidFill>
                <a:schemeClr val="tx1"/>
              </a:solidFill>
            </a:endParaRPr>
          </a:p>
        </p:txBody>
      </p:sp>
      <p:sp>
        <p:nvSpPr>
          <p:cNvPr id="8" name="Rectangle 7"/>
          <p:cNvSpPr/>
          <p:nvPr/>
        </p:nvSpPr>
        <p:spPr>
          <a:xfrm>
            <a:off x="3200400" y="5257800"/>
            <a:ext cx="2362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Filtering  details</a:t>
            </a:r>
            <a:endParaRPr lang="en-US" dirty="0">
              <a:solidFill>
                <a:schemeClr val="tx1"/>
              </a:solidFill>
            </a:endParaRPr>
          </a:p>
        </p:txBody>
      </p:sp>
      <p:sp>
        <p:nvSpPr>
          <p:cNvPr id="9" name="Oval 8"/>
          <p:cNvSpPr/>
          <p:nvPr/>
        </p:nvSpPr>
        <p:spPr>
          <a:xfrm>
            <a:off x="3886200" y="5943600"/>
            <a:ext cx="9906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Stop</a:t>
            </a:r>
            <a:endParaRPr lang="en-US" dirty="0">
              <a:solidFill>
                <a:schemeClr val="tx1"/>
              </a:solidFill>
            </a:endParaRPr>
          </a:p>
        </p:txBody>
      </p:sp>
      <p:cxnSp>
        <p:nvCxnSpPr>
          <p:cNvPr id="11" name="Straight Arrow Connector 10"/>
          <p:cNvCxnSpPr>
            <a:stCxn id="3" idx="4"/>
            <a:endCxn id="4" idx="0"/>
          </p:cNvCxnSpPr>
          <p:nvPr/>
        </p:nvCxnSpPr>
        <p:spPr>
          <a:xfrm rot="5400000">
            <a:off x="4305300" y="24384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4" idx="2"/>
            <a:endCxn id="5" idx="0"/>
          </p:cNvCxnSpPr>
          <p:nvPr/>
        </p:nvCxnSpPr>
        <p:spPr>
          <a:xfrm rot="5400000">
            <a:off x="4267200" y="30861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2"/>
            <a:endCxn id="6" idx="0"/>
          </p:cNvCxnSpPr>
          <p:nvPr/>
        </p:nvCxnSpPr>
        <p:spPr>
          <a:xfrm rot="5400000">
            <a:off x="4267200" y="37719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6" idx="2"/>
            <a:endCxn id="7" idx="0"/>
          </p:cNvCxnSpPr>
          <p:nvPr/>
        </p:nvCxnSpPr>
        <p:spPr>
          <a:xfrm rot="5400000">
            <a:off x="4267200" y="44577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7" idx="2"/>
            <a:endCxn id="8" idx="0"/>
          </p:cNvCxnSpPr>
          <p:nvPr/>
        </p:nvCxnSpPr>
        <p:spPr>
          <a:xfrm rot="5400000">
            <a:off x="4267200" y="5143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8" idx="2"/>
            <a:endCxn id="9" idx="0"/>
          </p:cNvCxnSpPr>
          <p:nvPr/>
        </p:nvCxnSpPr>
        <p:spPr>
          <a:xfrm rot="5400000">
            <a:off x="4267200" y="58293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2971800"/>
            <a:ext cx="1905000" cy="1219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Student Details</a:t>
            </a:r>
            <a:endParaRPr lang="en-US" dirty="0">
              <a:solidFill>
                <a:schemeClr val="tx1"/>
              </a:solidFill>
            </a:endParaRPr>
          </a:p>
        </p:txBody>
      </p:sp>
      <p:sp>
        <p:nvSpPr>
          <p:cNvPr id="3" name="Rectangle 2"/>
          <p:cNvSpPr/>
          <p:nvPr/>
        </p:nvSpPr>
        <p:spPr>
          <a:xfrm>
            <a:off x="3276600" y="2895600"/>
            <a:ext cx="2590800" cy="1371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Pre-Placement cell</a:t>
            </a:r>
            <a:endParaRPr lang="en-US" dirty="0">
              <a:solidFill>
                <a:schemeClr val="tx1"/>
              </a:solidFill>
            </a:endParaRPr>
          </a:p>
        </p:txBody>
      </p:sp>
      <p:sp>
        <p:nvSpPr>
          <p:cNvPr id="4" name="Oval 3"/>
          <p:cNvSpPr/>
          <p:nvPr/>
        </p:nvSpPr>
        <p:spPr>
          <a:xfrm>
            <a:off x="7086600" y="2971800"/>
            <a:ext cx="1828800" cy="1219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Excel</a:t>
            </a:r>
            <a:endParaRPr lang="en-US" dirty="0">
              <a:solidFill>
                <a:schemeClr val="tx1"/>
              </a:solidFill>
            </a:endParaRPr>
          </a:p>
        </p:txBody>
      </p:sp>
      <p:cxnSp>
        <p:nvCxnSpPr>
          <p:cNvPr id="6" name="Straight Arrow Connector 5"/>
          <p:cNvCxnSpPr>
            <a:stCxn id="2" idx="6"/>
            <a:endCxn id="3" idx="1"/>
          </p:cNvCxnSpPr>
          <p:nvPr/>
        </p:nvCxnSpPr>
        <p:spPr>
          <a:xfrm>
            <a:off x="2362200" y="3581400"/>
            <a:ext cx="914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3" idx="3"/>
            <a:endCxn id="4" idx="2"/>
          </p:cNvCxnSpPr>
          <p:nvPr/>
        </p:nvCxnSpPr>
        <p:spPr>
          <a:xfrm>
            <a:off x="5867400" y="3581400"/>
            <a:ext cx="12192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438400" y="2971800"/>
            <a:ext cx="762000" cy="646331"/>
          </a:xfrm>
          <a:prstGeom prst="rect">
            <a:avLst/>
          </a:prstGeom>
          <a:noFill/>
        </p:spPr>
        <p:txBody>
          <a:bodyPr wrap="square" rtlCol="0">
            <a:spAutoFit/>
          </a:bodyPr>
          <a:lstStyle/>
          <a:p>
            <a:r>
              <a:rPr lang="en-US" dirty="0" smtClean="0"/>
              <a:t>fetchdata</a:t>
            </a:r>
            <a:endParaRPr lang="en-US" dirty="0"/>
          </a:p>
        </p:txBody>
      </p:sp>
      <p:sp>
        <p:nvSpPr>
          <p:cNvPr id="17" name="TextBox 16"/>
          <p:cNvSpPr txBox="1"/>
          <p:nvPr/>
        </p:nvSpPr>
        <p:spPr>
          <a:xfrm>
            <a:off x="6096000" y="3124200"/>
            <a:ext cx="762000" cy="369332"/>
          </a:xfrm>
          <a:prstGeom prst="rect">
            <a:avLst/>
          </a:prstGeom>
          <a:noFill/>
        </p:spPr>
        <p:txBody>
          <a:bodyPr wrap="square" rtlCol="0">
            <a:spAutoFit/>
          </a:bodyPr>
          <a:lstStyle/>
          <a:p>
            <a:r>
              <a:rPr lang="en-US" dirty="0" smtClean="0"/>
              <a:t>entry</a:t>
            </a:r>
            <a:endParaRPr lang="en-US" dirty="0"/>
          </a:p>
        </p:txBody>
      </p:sp>
      <p:sp>
        <p:nvSpPr>
          <p:cNvPr id="20" name="Title 19"/>
          <p:cNvSpPr>
            <a:spLocks noGrp="1"/>
          </p:cNvSpPr>
          <p:nvPr>
            <p:ph type="title"/>
          </p:nvPr>
        </p:nvSpPr>
        <p:spPr/>
        <p:txBody>
          <a:bodyPr/>
          <a:lstStyle/>
          <a:p>
            <a:r>
              <a:rPr lang="en-US" dirty="0" smtClean="0"/>
              <a:t>Data Flow Diagram Level 0</a:t>
            </a:r>
            <a:endParaRPr lang="en-US" dirty="0"/>
          </a:p>
        </p:txBody>
      </p:sp>
      <p:sp>
        <p:nvSpPr>
          <p:cNvPr id="11" name="TextBox 10"/>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 Diagram Level 1</a:t>
            </a:r>
            <a:endParaRPr lang="en-US" dirty="0"/>
          </a:p>
        </p:txBody>
      </p:sp>
      <p:sp>
        <p:nvSpPr>
          <p:cNvPr id="3" name="Rounded Rectangle 2"/>
          <p:cNvSpPr/>
          <p:nvPr/>
        </p:nvSpPr>
        <p:spPr>
          <a:xfrm>
            <a:off x="533400" y="2895600"/>
            <a:ext cx="13716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Student details</a:t>
            </a:r>
            <a:endParaRPr lang="en-US" dirty="0">
              <a:solidFill>
                <a:schemeClr val="tx1"/>
              </a:solidFill>
            </a:endParaRPr>
          </a:p>
        </p:txBody>
      </p:sp>
      <p:sp>
        <p:nvSpPr>
          <p:cNvPr id="4" name="Rounded Rectangle 3"/>
          <p:cNvSpPr/>
          <p:nvPr/>
        </p:nvSpPr>
        <p:spPr>
          <a:xfrm>
            <a:off x="3048000" y="2895600"/>
            <a:ext cx="16764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Management</a:t>
            </a:r>
            <a:endParaRPr lang="en-US" dirty="0">
              <a:solidFill>
                <a:schemeClr val="tx1"/>
              </a:solidFill>
            </a:endParaRPr>
          </a:p>
        </p:txBody>
      </p:sp>
      <p:sp>
        <p:nvSpPr>
          <p:cNvPr id="5" name="Oval 4"/>
          <p:cNvSpPr/>
          <p:nvPr/>
        </p:nvSpPr>
        <p:spPr>
          <a:xfrm>
            <a:off x="5715000" y="2819400"/>
            <a:ext cx="18288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Pre-Placement Cell</a:t>
            </a:r>
            <a:endParaRPr lang="en-US" dirty="0">
              <a:solidFill>
                <a:schemeClr val="tx1"/>
              </a:solidFill>
            </a:endParaRPr>
          </a:p>
        </p:txBody>
      </p:sp>
      <p:sp>
        <p:nvSpPr>
          <p:cNvPr id="6" name="Oval 5"/>
          <p:cNvSpPr/>
          <p:nvPr/>
        </p:nvSpPr>
        <p:spPr>
          <a:xfrm>
            <a:off x="5791200" y="4953000"/>
            <a:ext cx="1676400" cy="838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Excel</a:t>
            </a:r>
            <a:endParaRPr lang="en-US" dirty="0">
              <a:solidFill>
                <a:schemeClr val="tx1"/>
              </a:solidFill>
            </a:endParaRPr>
          </a:p>
        </p:txBody>
      </p:sp>
      <p:sp>
        <p:nvSpPr>
          <p:cNvPr id="7" name="Rounded Rectangle 6"/>
          <p:cNvSpPr/>
          <p:nvPr/>
        </p:nvSpPr>
        <p:spPr>
          <a:xfrm>
            <a:off x="2971800" y="4953000"/>
            <a:ext cx="17526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solidFill>
                  <a:schemeClr val="tx1"/>
                </a:solidFill>
              </a:rPr>
              <a:t>Ui</a:t>
            </a:r>
            <a:r>
              <a:rPr lang="en-US" dirty="0" smtClean="0">
                <a:solidFill>
                  <a:schemeClr val="tx1"/>
                </a:solidFill>
              </a:rPr>
              <a:t> Path</a:t>
            </a:r>
            <a:endParaRPr lang="en-US" dirty="0">
              <a:solidFill>
                <a:schemeClr val="tx1"/>
              </a:solidFill>
            </a:endParaRPr>
          </a:p>
        </p:txBody>
      </p:sp>
      <p:sp>
        <p:nvSpPr>
          <p:cNvPr id="8" name="Rounded Rectangle 7"/>
          <p:cNvSpPr/>
          <p:nvPr/>
        </p:nvSpPr>
        <p:spPr>
          <a:xfrm>
            <a:off x="381000" y="4953000"/>
            <a:ext cx="14478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tx1"/>
                </a:solidFill>
              </a:rPr>
              <a:t>Google Form</a:t>
            </a:r>
            <a:endParaRPr lang="en-US" dirty="0">
              <a:solidFill>
                <a:schemeClr val="tx1"/>
              </a:solidFill>
            </a:endParaRPr>
          </a:p>
        </p:txBody>
      </p:sp>
      <p:cxnSp>
        <p:nvCxnSpPr>
          <p:cNvPr id="10" name="Straight Arrow Connector 9"/>
          <p:cNvCxnSpPr>
            <a:stCxn id="3" idx="3"/>
            <a:endCxn id="4" idx="1"/>
          </p:cNvCxnSpPr>
          <p:nvPr/>
        </p:nvCxnSpPr>
        <p:spPr>
          <a:xfrm>
            <a:off x="1905000" y="3276600"/>
            <a:ext cx="1143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4" idx="3"/>
            <a:endCxn id="5" idx="2"/>
          </p:cNvCxnSpPr>
          <p:nvPr/>
        </p:nvCxnSpPr>
        <p:spPr>
          <a:xfrm>
            <a:off x="4724400" y="3276600"/>
            <a:ext cx="990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5" idx="4"/>
            <a:endCxn id="6" idx="0"/>
          </p:cNvCxnSpPr>
          <p:nvPr/>
        </p:nvCxnSpPr>
        <p:spPr>
          <a:xfrm rot="5400000">
            <a:off x="6019800" y="4343400"/>
            <a:ext cx="12192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6" idx="2"/>
            <a:endCxn id="7" idx="3"/>
          </p:cNvCxnSpPr>
          <p:nvPr/>
        </p:nvCxnSpPr>
        <p:spPr>
          <a:xfrm rot="10800000">
            <a:off x="4724400" y="5334000"/>
            <a:ext cx="1066800" cy="381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7" idx="1"/>
            <a:endCxn id="8" idx="3"/>
          </p:cNvCxnSpPr>
          <p:nvPr/>
        </p:nvCxnSpPr>
        <p:spPr>
          <a:xfrm rot="10800000">
            <a:off x="1828800" y="5334000"/>
            <a:ext cx="1143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1" name="TextBox 50"/>
          <p:cNvSpPr txBox="1"/>
          <p:nvPr/>
        </p:nvSpPr>
        <p:spPr>
          <a:xfrm>
            <a:off x="1905000" y="2895600"/>
            <a:ext cx="1122615" cy="381000"/>
          </a:xfrm>
          <a:prstGeom prst="rect">
            <a:avLst/>
          </a:prstGeom>
          <a:noFill/>
        </p:spPr>
        <p:txBody>
          <a:bodyPr wrap="square" rtlCol="0">
            <a:spAutoFit/>
          </a:bodyPr>
          <a:lstStyle/>
          <a:p>
            <a:r>
              <a:rPr lang="en-US" dirty="0" smtClean="0"/>
              <a:t>Collected</a:t>
            </a:r>
            <a:endParaRPr lang="en-US" dirty="0"/>
          </a:p>
        </p:txBody>
      </p:sp>
      <p:sp>
        <p:nvSpPr>
          <p:cNvPr id="52" name="TextBox 51"/>
          <p:cNvSpPr txBox="1"/>
          <p:nvPr/>
        </p:nvSpPr>
        <p:spPr>
          <a:xfrm>
            <a:off x="4876800" y="2895600"/>
            <a:ext cx="830791" cy="369332"/>
          </a:xfrm>
          <a:prstGeom prst="rect">
            <a:avLst/>
          </a:prstGeom>
          <a:noFill/>
        </p:spPr>
        <p:txBody>
          <a:bodyPr wrap="square" rtlCol="0">
            <a:spAutoFit/>
          </a:bodyPr>
          <a:lstStyle/>
          <a:p>
            <a:r>
              <a:rPr lang="en-US" dirty="0" smtClean="0"/>
              <a:t>Send</a:t>
            </a:r>
            <a:endParaRPr lang="en-US" dirty="0"/>
          </a:p>
        </p:txBody>
      </p:sp>
      <p:sp>
        <p:nvSpPr>
          <p:cNvPr id="53" name="TextBox 52"/>
          <p:cNvSpPr txBox="1"/>
          <p:nvPr/>
        </p:nvSpPr>
        <p:spPr>
          <a:xfrm>
            <a:off x="6781800" y="4114800"/>
            <a:ext cx="737894" cy="369332"/>
          </a:xfrm>
          <a:prstGeom prst="rect">
            <a:avLst/>
          </a:prstGeom>
          <a:noFill/>
        </p:spPr>
        <p:txBody>
          <a:bodyPr wrap="none" rtlCol="0">
            <a:spAutoFit/>
          </a:bodyPr>
          <a:lstStyle/>
          <a:p>
            <a:r>
              <a:rPr lang="en-US" dirty="0" smtClean="0"/>
              <a:t>Entry</a:t>
            </a:r>
            <a:endParaRPr lang="en-US" dirty="0"/>
          </a:p>
        </p:txBody>
      </p:sp>
      <p:sp>
        <p:nvSpPr>
          <p:cNvPr id="54" name="TextBox 53"/>
          <p:cNvSpPr txBox="1"/>
          <p:nvPr/>
        </p:nvSpPr>
        <p:spPr>
          <a:xfrm>
            <a:off x="4876800" y="4953000"/>
            <a:ext cx="849720" cy="369332"/>
          </a:xfrm>
          <a:prstGeom prst="rect">
            <a:avLst/>
          </a:prstGeom>
          <a:noFill/>
        </p:spPr>
        <p:txBody>
          <a:bodyPr wrap="none" rtlCol="0">
            <a:spAutoFit/>
          </a:bodyPr>
          <a:lstStyle/>
          <a:p>
            <a:r>
              <a:rPr lang="en-US" dirty="0" smtClean="0"/>
              <a:t>Attach</a:t>
            </a:r>
            <a:endParaRPr lang="en-US" dirty="0"/>
          </a:p>
        </p:txBody>
      </p:sp>
      <p:sp>
        <p:nvSpPr>
          <p:cNvPr id="55" name="TextBox 54"/>
          <p:cNvSpPr txBox="1"/>
          <p:nvPr/>
        </p:nvSpPr>
        <p:spPr>
          <a:xfrm>
            <a:off x="1828800" y="4953000"/>
            <a:ext cx="1172693" cy="369332"/>
          </a:xfrm>
          <a:prstGeom prst="rect">
            <a:avLst/>
          </a:prstGeom>
          <a:noFill/>
        </p:spPr>
        <p:txBody>
          <a:bodyPr wrap="none" rtlCol="0">
            <a:spAutoFit/>
          </a:bodyPr>
          <a:lstStyle/>
          <a:p>
            <a:r>
              <a:rPr lang="en-US" dirty="0" smtClean="0"/>
              <a:t>Automate</a:t>
            </a:r>
            <a:endParaRPr lang="en-US" dirty="0"/>
          </a:p>
        </p:txBody>
      </p:sp>
      <p:sp>
        <p:nvSpPr>
          <p:cNvPr id="19" name="TextBox 18"/>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latin typeface="Calibri" panose="020F0502020204030204" pitchFamily="34" charset="0"/>
                <a:cs typeface="Calibri" panose="020F0502020204030204" pitchFamily="34" charset="0"/>
              </a:rPr>
              <a:t>Module </a:t>
            </a:r>
            <a:r>
              <a:rPr lang="en-US" sz="4000" dirty="0" err="1" smtClean="0">
                <a:latin typeface="Calibri" panose="020F0502020204030204" pitchFamily="34" charset="0"/>
                <a:cs typeface="Calibri" panose="020F0502020204030204" pitchFamily="34" charset="0"/>
              </a:rPr>
              <a:t>Splitup</a:t>
            </a:r>
            <a:endParaRPr lang="en-US" sz="4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fontScale="92500"/>
          </a:bodyPr>
          <a:lstStyle/>
          <a:p>
            <a:r>
              <a:rPr lang="en-IN" altLang="en-US" dirty="0"/>
              <a:t>Module </a:t>
            </a:r>
            <a:r>
              <a:rPr lang="en-IN" altLang="en-US" dirty="0" smtClean="0"/>
              <a:t>I:</a:t>
            </a:r>
          </a:p>
          <a:p>
            <a:pPr marL="708660" lvl="1" indent="-342900">
              <a:buNone/>
            </a:pPr>
            <a:r>
              <a:rPr lang="en-IN" altLang="en-US" dirty="0" smtClean="0"/>
              <a:t>    Create a </a:t>
            </a:r>
            <a:r>
              <a:rPr lang="en-IN" altLang="en-US" dirty="0"/>
              <a:t> </a:t>
            </a:r>
            <a:r>
              <a:rPr lang="en-IN" altLang="en-US" dirty="0" smtClean="0"/>
              <a:t>google form.</a:t>
            </a:r>
          </a:p>
          <a:p>
            <a:pPr marL="708660" lvl="1" indent="-342900">
              <a:buNone/>
            </a:pPr>
            <a:r>
              <a:rPr lang="en-IN" altLang="en-US" dirty="0" smtClean="0"/>
              <a:t>    Attach a link to </a:t>
            </a:r>
            <a:r>
              <a:rPr lang="en-IN" altLang="en-US" dirty="0" err="1" smtClean="0"/>
              <a:t>Ui</a:t>
            </a:r>
            <a:r>
              <a:rPr lang="en-IN" altLang="en-US" dirty="0" smtClean="0"/>
              <a:t>-path.</a:t>
            </a:r>
          </a:p>
          <a:p>
            <a:r>
              <a:rPr lang="en-IN" altLang="en-US" dirty="0" smtClean="0"/>
              <a:t>Module II:</a:t>
            </a:r>
          </a:p>
          <a:p>
            <a:pPr marL="708660" lvl="1" indent="-342900">
              <a:buNone/>
            </a:pPr>
            <a:r>
              <a:rPr lang="en-IN" altLang="en-US" dirty="0" smtClean="0"/>
              <a:t>    Create a excel sheet and automate the details from excel sheet to google form.</a:t>
            </a:r>
          </a:p>
          <a:p>
            <a:pPr>
              <a:buFont typeface="Wingdings" pitchFamily="2" charset="2"/>
              <a:buChar char="§"/>
            </a:pPr>
            <a:r>
              <a:rPr lang="en-IN" altLang="en-US" dirty="0" smtClean="0"/>
              <a:t>Module III:</a:t>
            </a:r>
          </a:p>
          <a:p>
            <a:pPr>
              <a:buNone/>
            </a:pPr>
            <a:r>
              <a:rPr lang="en-IN" altLang="en-US" dirty="0" smtClean="0"/>
              <a:t>        Convert the details in excel sheet as graphs, charts etc.</a:t>
            </a:r>
          </a:p>
          <a:p>
            <a:pPr>
              <a:buFont typeface="Wingdings" pitchFamily="2" charset="2"/>
              <a:buChar char="§"/>
            </a:pPr>
            <a:r>
              <a:rPr lang="en-IN" altLang="en-US" dirty="0" smtClean="0"/>
              <a:t>Module IV:</a:t>
            </a:r>
          </a:p>
          <a:p>
            <a:pPr marL="708660" lvl="1" indent="-342900">
              <a:buNone/>
            </a:pPr>
            <a:r>
              <a:rPr lang="en-IN" altLang="en-US" dirty="0" smtClean="0"/>
              <a:t>    Filtering the particular data in the excel sheet and view it.</a:t>
            </a:r>
            <a:endParaRPr lang="en-IN" altLang="en-US" dirty="0"/>
          </a:p>
          <a:p>
            <a:pPr marL="708660" lvl="1" indent="-342900">
              <a:buFont typeface="Wingdings" panose="05000000000000000000" pitchFamily="2" charset="2"/>
              <a:buChar char="§"/>
            </a:pPr>
            <a:endParaRPr lang="en-IN" altLang="en-US" dirty="0"/>
          </a:p>
        </p:txBody>
      </p:sp>
      <p:sp>
        <p:nvSpPr>
          <p:cNvPr id="4" name="TextBox 3"/>
          <p:cNvSpPr txBox="1"/>
          <p:nvPr/>
        </p:nvSpPr>
        <p:spPr>
          <a:xfrm>
            <a:off x="0" y="6477000"/>
            <a:ext cx="9144000" cy="3683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Screen shots of modules under progress</a:t>
            </a:r>
            <a:r>
              <a:rPr lang="en-US" sz="3600" dirty="0" smtClean="0"/>
              <a:t>.</a:t>
            </a:r>
            <a:endParaRPr lang="en-US" sz="3600" dirty="0"/>
          </a:p>
        </p:txBody>
      </p:sp>
      <p:sp>
        <p:nvSpPr>
          <p:cNvPr id="4" name="Content Placeholder 3"/>
          <p:cNvSpPr>
            <a:spLocks noGrp="1"/>
          </p:cNvSpPr>
          <p:nvPr>
            <p:ph idx="1"/>
          </p:nvPr>
        </p:nvSpPr>
        <p:spPr>
          <a:xfrm>
            <a:off x="381000" y="1847088"/>
            <a:ext cx="8229600" cy="4401312"/>
          </a:xfrm>
        </p:spPr>
        <p:txBody>
          <a:bodyPr/>
          <a:lstStyle/>
          <a:p>
            <a:pPr marL="0" indent="0">
              <a:buNone/>
            </a:pPr>
            <a:endParaRPr lang="en-US" dirty="0" smtClean="0"/>
          </a:p>
          <a:p>
            <a:pPr marL="0" indent="0">
              <a:buNone/>
            </a:pPr>
            <a:endParaRPr lang="en-US" dirty="0" smtClean="0"/>
          </a:p>
          <a:p>
            <a:endParaRPr lang="en-US" dirty="0" smtClean="0"/>
          </a:p>
          <a:p>
            <a:pPr marL="0" indent="0">
              <a:buNone/>
            </a:pPr>
            <a:endParaRPr lang="en-US" dirty="0" smtClean="0"/>
          </a:p>
          <a:p>
            <a:endParaRPr lang="en-US" dirty="0" smtClean="0"/>
          </a:p>
          <a:p>
            <a:endParaRPr lang="en-US" dirty="0" smtClean="0"/>
          </a:p>
          <a:p>
            <a:pPr marL="2194560" lvl="8" indent="0">
              <a:buNone/>
            </a:pPr>
            <a:endParaRPr lang="en-US" dirty="0" smtClean="0"/>
          </a:p>
        </p:txBody>
      </p:sp>
      <p:sp>
        <p:nvSpPr>
          <p:cNvPr id="3" name="TextBox 2"/>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pic>
        <p:nvPicPr>
          <p:cNvPr id="6" name="Picture 5"/>
          <p:cNvPicPr/>
          <p:nvPr/>
        </p:nvPicPr>
        <p:blipFill>
          <a:blip r:embed="rId2">
            <a:extLst>
              <a:ext uri="{28A0092B-C50C-407E-A947-70E740481C1C}">
                <a14:useLocalDpi xmlns="" xmlns:a14="http://schemas.microsoft.com/office/drawing/2010/main" val="0"/>
              </a:ext>
            </a:extLst>
          </a:blip>
          <a:srcRect r="8333" b="25000"/>
          <a:stretch>
            <a:fillRect/>
          </a:stretch>
        </p:blipFill>
        <p:spPr bwMode="auto">
          <a:xfrm>
            <a:off x="1295400" y="2286000"/>
            <a:ext cx="6400800" cy="34290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Get Information:</a:t>
            </a:r>
            <a:endParaRPr lang="en-IN" dirty="0"/>
          </a:p>
        </p:txBody>
      </p:sp>
      <p:pic>
        <p:nvPicPr>
          <p:cNvPr id="4" name="Content Placeholder 3"/>
          <p:cNvPicPr>
            <a:picLocks noGrp="1"/>
          </p:cNvPicPr>
          <p:nvPr>
            <p:ph idx="1"/>
          </p:nvPr>
        </p:nvPicPr>
        <p:blipFill>
          <a:blip r:embed="rId2" cstate="print">
            <a:extLst>
              <a:ext uri="{28A0092B-C50C-407E-A947-70E740481C1C}">
                <a14:useLocalDpi xmlns="" xmlns:a14="http://schemas.microsoft.com/office/drawing/2010/main" val="0"/>
              </a:ext>
            </a:extLst>
          </a:blip>
          <a:srcRect r="18056" b="25800"/>
          <a:stretch>
            <a:fillRect/>
          </a:stretch>
        </p:blipFill>
        <p:spPr bwMode="auto">
          <a:xfrm>
            <a:off x="1828722" y="2586680"/>
            <a:ext cx="5943678" cy="3128320"/>
          </a:xfrm>
          <a:prstGeom prst="rect">
            <a:avLst/>
          </a:prstGeom>
          <a:noFill/>
          <a:ln>
            <a:noFill/>
          </a:ln>
        </p:spPr>
      </p:pic>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28763210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Sequence:</a:t>
            </a:r>
            <a:endParaRPr lang="en-IN" dirty="0"/>
          </a:p>
        </p:txBody>
      </p:sp>
      <p:sp>
        <p:nvSpPr>
          <p:cNvPr id="3" name="Content Placeholder 2"/>
          <p:cNvSpPr>
            <a:spLocks noGrp="1"/>
          </p:cNvSpPr>
          <p:nvPr>
            <p:ph idx="1"/>
          </p:nvPr>
        </p:nvSpPr>
        <p:spPr/>
        <p:txBody>
          <a:bodyPr/>
          <a:lstStyle/>
          <a:p>
            <a:r>
              <a:rPr lang="en-IN" dirty="0" smtClean="0"/>
              <a:t>Sequence flow for </a:t>
            </a:r>
            <a:r>
              <a:rPr lang="en-IN" dirty="0" err="1" smtClean="0"/>
              <a:t>google</a:t>
            </a:r>
            <a:r>
              <a:rPr lang="en-IN" dirty="0" smtClean="0"/>
              <a:t> form</a:t>
            </a:r>
            <a:endParaRPr lang="en-IN" dirty="0"/>
          </a:p>
        </p:txBody>
      </p:sp>
      <p:pic>
        <p:nvPicPr>
          <p:cNvPr id="5" name="Picture 4"/>
          <p:cNvPicPr/>
          <p:nvPr/>
        </p:nvPicPr>
        <p:blipFill>
          <a:blip r:embed="rId2"/>
          <a:srcRect r="22616" b="30385"/>
          <a:stretch>
            <a:fillRect/>
          </a:stretch>
        </p:blipFill>
        <p:spPr bwMode="auto">
          <a:xfrm>
            <a:off x="838200" y="2667000"/>
            <a:ext cx="7125977" cy="3605841"/>
          </a:xfrm>
          <a:prstGeom prst="rect">
            <a:avLst/>
          </a:prstGeom>
          <a:noFill/>
          <a:ln w="9525">
            <a:noFill/>
            <a:miter lim="800000"/>
            <a:headEnd/>
            <a:tailEnd/>
          </a:ln>
        </p:spPr>
      </p:pic>
      <p:sp>
        <p:nvSpPr>
          <p:cNvPr id="6" name="TextBox 5"/>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38313351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excel sheet:</a:t>
            </a:r>
            <a:endParaRPr lang="en-US" dirty="0"/>
          </a:p>
        </p:txBody>
      </p:sp>
      <p:pic>
        <p:nvPicPr>
          <p:cNvPr id="6" name="Content Placeholder 5"/>
          <p:cNvPicPr>
            <a:picLocks noGrp="1"/>
          </p:cNvPicPr>
          <p:nvPr>
            <p:ph idx="1"/>
          </p:nvPr>
        </p:nvPicPr>
        <p:blipFill>
          <a:blip r:embed="rId2"/>
          <a:srcRect r="23485" b="30385"/>
          <a:stretch>
            <a:fillRect/>
          </a:stretch>
        </p:blipFill>
        <p:spPr bwMode="auto">
          <a:xfrm>
            <a:off x="457200" y="2025059"/>
            <a:ext cx="8229600" cy="4209645"/>
          </a:xfrm>
          <a:prstGeom prst="rect">
            <a:avLst/>
          </a:prstGeom>
          <a:noFill/>
          <a:ln w="9525">
            <a:noFill/>
            <a:miter lim="800000"/>
            <a:headEnd/>
            <a:tailEnd/>
          </a:ln>
        </p:spPr>
      </p:pic>
      <p:sp>
        <p:nvSpPr>
          <p:cNvPr id="7" name="TextBox 6"/>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a:t>
            </a:r>
            <a:endParaRPr lang="en-US" dirty="0"/>
          </a:p>
        </p:txBody>
      </p:sp>
      <p:pic>
        <p:nvPicPr>
          <p:cNvPr id="7" name="Content Placeholder 6"/>
          <p:cNvPicPr>
            <a:picLocks noGrp="1"/>
          </p:cNvPicPr>
          <p:nvPr>
            <p:ph idx="1"/>
          </p:nvPr>
        </p:nvPicPr>
        <p:blipFill>
          <a:blip r:embed="rId2"/>
          <a:srcRect r="21456" b="29354"/>
          <a:stretch>
            <a:fillRect/>
          </a:stretch>
        </p:blipFill>
        <p:spPr bwMode="auto">
          <a:xfrm>
            <a:off x="457200" y="2362200"/>
            <a:ext cx="7391400" cy="3848498"/>
          </a:xfrm>
          <a:prstGeom prst="rect">
            <a:avLst/>
          </a:prstGeom>
          <a:noFill/>
          <a:ln w="9525">
            <a:noFill/>
            <a:miter lim="800000"/>
            <a:headEnd/>
            <a:tailEnd/>
          </a:ln>
        </p:spPr>
      </p:pic>
      <p:sp>
        <p:nvSpPr>
          <p:cNvPr id="8" name="TextBox 7"/>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Sequence</a:t>
            </a:r>
            <a:endParaRPr lang="en-IN" dirty="0"/>
          </a:p>
        </p:txBody>
      </p:sp>
      <p:sp>
        <p:nvSpPr>
          <p:cNvPr id="5" name="Content Placeholder 4"/>
          <p:cNvSpPr>
            <a:spLocks noGrp="1"/>
          </p:cNvSpPr>
          <p:nvPr>
            <p:ph idx="1"/>
          </p:nvPr>
        </p:nvSpPr>
        <p:spPr/>
        <p:txBody>
          <a:bodyPr/>
          <a:lstStyle/>
          <a:p>
            <a:r>
              <a:rPr lang="en-IN" dirty="0" smtClean="0"/>
              <a:t>Details</a:t>
            </a:r>
            <a:endParaRPr lang="en-IN" dirty="0"/>
          </a:p>
        </p:txBody>
      </p:sp>
      <p:pic>
        <p:nvPicPr>
          <p:cNvPr id="6" name="Picture 5"/>
          <p:cNvPicPr/>
          <p:nvPr/>
        </p:nvPicPr>
        <p:blipFill>
          <a:blip r:embed="rId2">
            <a:extLst>
              <a:ext uri="{28A0092B-C50C-407E-A947-70E740481C1C}">
                <a14:useLocalDpi xmlns="" xmlns:a14="http://schemas.microsoft.com/office/drawing/2010/main" val="0"/>
              </a:ext>
            </a:extLst>
          </a:blip>
          <a:srcRect/>
          <a:stretch>
            <a:fillRect/>
          </a:stretch>
        </p:blipFill>
        <p:spPr bwMode="auto">
          <a:xfrm>
            <a:off x="1828800" y="2438400"/>
            <a:ext cx="5486400" cy="3352800"/>
          </a:xfrm>
          <a:prstGeom prst="rect">
            <a:avLst/>
          </a:prstGeom>
          <a:noFill/>
          <a:ln>
            <a:noFill/>
          </a:ln>
        </p:spPr>
      </p:pic>
      <p:sp>
        <p:nvSpPr>
          <p:cNvPr id="7" name="TextBox 6"/>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17239496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a:t>
            </a:r>
            <a:endParaRPr lang="en-US" dirty="0"/>
          </a:p>
        </p:txBody>
      </p:sp>
      <p:pic>
        <p:nvPicPr>
          <p:cNvPr id="4" name="Content Placeholder 3"/>
          <p:cNvPicPr>
            <a:picLocks noGrp="1"/>
          </p:cNvPicPr>
          <p:nvPr>
            <p:ph idx="1"/>
          </p:nvPr>
        </p:nvPicPr>
        <p:blipFill>
          <a:blip r:embed="rId2"/>
          <a:srcRect r="22905" b="30385"/>
          <a:stretch>
            <a:fillRect/>
          </a:stretch>
        </p:blipFill>
        <p:spPr bwMode="auto">
          <a:xfrm>
            <a:off x="685800" y="2286000"/>
            <a:ext cx="7239000" cy="3704269"/>
          </a:xfrm>
          <a:prstGeom prst="rect">
            <a:avLst/>
          </a:prstGeom>
          <a:noFill/>
          <a:ln w="9525">
            <a:noFill/>
            <a:miter lim="800000"/>
            <a:headEnd/>
            <a:tailEnd/>
          </a:ln>
        </p:spPr>
      </p:pic>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Submit</a:t>
            </a:r>
            <a:endParaRPr lang="en-IN" dirty="0"/>
          </a:p>
        </p:txBody>
      </p:sp>
      <p:sp>
        <p:nvSpPr>
          <p:cNvPr id="3" name="Content Placeholder 2"/>
          <p:cNvSpPr>
            <a:spLocks noGrp="1"/>
          </p:cNvSpPr>
          <p:nvPr>
            <p:ph idx="1"/>
          </p:nvPr>
        </p:nvSpPr>
        <p:spPr/>
        <p:txBody>
          <a:bodyPr/>
          <a:lstStyle/>
          <a:p>
            <a:r>
              <a:rPr lang="en-IN" dirty="0" smtClean="0"/>
              <a:t>submit</a:t>
            </a:r>
            <a:endParaRPr lang="en-IN" dirty="0"/>
          </a:p>
        </p:txBody>
      </p:sp>
      <p:pic>
        <p:nvPicPr>
          <p:cNvPr id="4" name="Picture 3"/>
          <p:cNvPicPr/>
          <p:nvPr/>
        </p:nvPicPr>
        <p:blipFill>
          <a:blip r:embed="rId2">
            <a:extLst>
              <a:ext uri="{28A0092B-C50C-407E-A947-70E740481C1C}">
                <a14:useLocalDpi xmlns="" xmlns:a14="http://schemas.microsoft.com/office/drawing/2010/main" val="0"/>
              </a:ext>
            </a:extLst>
          </a:blip>
          <a:srcRect/>
          <a:stretch>
            <a:fillRect/>
          </a:stretch>
        </p:blipFill>
        <p:spPr bwMode="auto">
          <a:xfrm>
            <a:off x="1828800" y="2514600"/>
            <a:ext cx="5486400" cy="3200400"/>
          </a:xfrm>
          <a:prstGeom prst="rect">
            <a:avLst/>
          </a:prstGeom>
          <a:noFill/>
          <a:ln>
            <a:noFill/>
          </a:ln>
        </p:spPr>
      </p:pic>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20584915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49568" b="8057"/>
          <a:stretch>
            <a:fillRect/>
          </a:stretch>
        </p:blipFill>
        <p:spPr bwMode="auto">
          <a:xfrm>
            <a:off x="1219200" y="2590800"/>
            <a:ext cx="6209222" cy="3346941"/>
          </a:xfrm>
          <a:prstGeom prst="rect">
            <a:avLst/>
          </a:prstGeom>
          <a:noFill/>
          <a:ln w="9525">
            <a:noFill/>
            <a:miter lim="800000"/>
            <a:headEnd/>
            <a:tailEnd/>
          </a:ln>
        </p:spPr>
      </p:pic>
      <p:sp>
        <p:nvSpPr>
          <p:cNvPr id="5" name="Title 4"/>
          <p:cNvSpPr>
            <a:spLocks noGrp="1"/>
          </p:cNvSpPr>
          <p:nvPr>
            <p:ph type="title"/>
          </p:nvPr>
        </p:nvSpPr>
        <p:spPr/>
        <p:txBody>
          <a:bodyPr/>
          <a:lstStyle/>
          <a:p>
            <a:r>
              <a:rPr lang="en-US" dirty="0" smtClean="0"/>
              <a:t>Excel details</a:t>
            </a:r>
            <a:endParaRPr lang="en-US" dirty="0"/>
          </a:p>
        </p:txBody>
      </p:sp>
      <p:sp>
        <p:nvSpPr>
          <p:cNvPr id="6" name="TextBox 5"/>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IN" dirty="0"/>
          </a:p>
        </p:txBody>
      </p:sp>
      <p:pic>
        <p:nvPicPr>
          <p:cNvPr id="6" name="Content Placeholder 5"/>
          <p:cNvPicPr>
            <a:picLocks noGrp="1"/>
          </p:cNvPicPr>
          <p:nvPr>
            <p:ph idx="1"/>
          </p:nvPr>
        </p:nvPicPr>
        <p:blipFill>
          <a:blip r:embed="rId2">
            <a:extLst>
              <a:ext uri="{28A0092B-C50C-407E-A947-70E740481C1C}">
                <a14:useLocalDpi xmlns="" xmlns:a14="http://schemas.microsoft.com/office/drawing/2010/main" val="0"/>
              </a:ext>
            </a:extLst>
          </a:blip>
          <a:stretch>
            <a:fillRect/>
          </a:stretch>
        </p:blipFill>
        <p:spPr bwMode="auto">
          <a:xfrm>
            <a:off x="1828722" y="2780997"/>
            <a:ext cx="5486556" cy="3086403"/>
          </a:xfrm>
          <a:prstGeom prst="rect">
            <a:avLst/>
          </a:prstGeom>
          <a:noFill/>
          <a:ln>
            <a:noFill/>
          </a:ln>
        </p:spPr>
      </p:pic>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15864045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IN" dirty="0"/>
          </a:p>
        </p:txBody>
      </p:sp>
      <p:pic>
        <p:nvPicPr>
          <p:cNvPr id="4" name="Content Placeholder 3"/>
          <p:cNvPicPr>
            <a:picLocks noGrp="1"/>
          </p:cNvPicPr>
          <p:nvPr>
            <p:ph idx="1"/>
          </p:nvPr>
        </p:nvPicPr>
        <p:blipFill>
          <a:blip r:embed="rId2" cstate="print">
            <a:extLst>
              <a:ext uri="{28A0092B-C50C-407E-A947-70E740481C1C}">
                <a14:useLocalDpi xmlns="" xmlns:a14="http://schemas.microsoft.com/office/drawing/2010/main" val="0"/>
              </a:ext>
            </a:extLst>
          </a:blip>
          <a:stretch>
            <a:fillRect/>
          </a:stretch>
        </p:blipFill>
        <p:spPr bwMode="auto">
          <a:xfrm>
            <a:off x="1828722" y="2586680"/>
            <a:ext cx="5486556" cy="3086403"/>
          </a:xfrm>
          <a:prstGeom prst="rect">
            <a:avLst/>
          </a:prstGeom>
          <a:noFill/>
          <a:ln>
            <a:noFill/>
          </a:ln>
        </p:spPr>
      </p:pic>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extLst>
      <p:ext uri="{BB962C8B-B14F-4D97-AF65-F5344CB8AC3E}">
        <p14:creationId xmlns="" xmlns:p14="http://schemas.microsoft.com/office/powerpoint/2010/main" val="10492041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23195" b="29870"/>
          <a:stretch>
            <a:fillRect/>
          </a:stretch>
        </p:blipFill>
        <p:spPr bwMode="auto">
          <a:xfrm>
            <a:off x="1219200" y="2362200"/>
            <a:ext cx="6606037" cy="3708223"/>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Chart process:</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22326" b="30901"/>
          <a:stretch>
            <a:fillRect/>
          </a:stretch>
        </p:blipFill>
        <p:spPr bwMode="auto">
          <a:xfrm>
            <a:off x="1066800" y="2133600"/>
            <a:ext cx="6397733" cy="3347049"/>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Sequence</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15657" b="19560"/>
          <a:stretch>
            <a:fillRect/>
          </a:stretch>
        </p:blipFill>
        <p:spPr bwMode="auto">
          <a:xfrm>
            <a:off x="1691676" y="2014268"/>
            <a:ext cx="5760648" cy="2829464"/>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Sequence</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rcRect r="78285" b="41210"/>
          <a:stretch>
            <a:fillRect/>
          </a:stretch>
        </p:blipFill>
        <p:spPr bwMode="auto">
          <a:xfrm>
            <a:off x="1905000" y="2057400"/>
            <a:ext cx="5891516" cy="4191000"/>
          </a:xfrm>
          <a:prstGeom prst="rect">
            <a:avLst/>
          </a:prstGeom>
          <a:noFill/>
          <a:ln w="9525">
            <a:noFill/>
            <a:miter lim="800000"/>
            <a:headEnd/>
            <a:tailEnd/>
          </a:ln>
        </p:spPr>
      </p:pic>
      <p:sp>
        <p:nvSpPr>
          <p:cNvPr id="4" name="Title 3"/>
          <p:cNvSpPr>
            <a:spLocks noGrp="1"/>
          </p:cNvSpPr>
          <p:nvPr>
            <p:ph type="title"/>
          </p:nvPr>
        </p:nvSpPr>
        <p:spPr/>
        <p:txBody>
          <a:bodyPr/>
          <a:lstStyle/>
          <a:p>
            <a:r>
              <a:rPr lang="en-US" dirty="0" smtClean="0"/>
              <a:t>Excel details</a:t>
            </a:r>
            <a:endParaRPr lang="en-US" dirty="0"/>
          </a:p>
        </p:txBody>
      </p:sp>
      <p:sp>
        <p:nvSpPr>
          <p:cNvPr id="5" name="TextBox 4"/>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64657" b="8736"/>
          <a:stretch>
            <a:fillRect/>
          </a:stretch>
        </p:blipFill>
        <p:spPr bwMode="auto">
          <a:xfrm>
            <a:off x="1219200" y="2057400"/>
            <a:ext cx="5791200" cy="3733800"/>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Output:</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23775" b="30385"/>
          <a:stretch>
            <a:fillRect/>
          </a:stretch>
        </p:blipFill>
        <p:spPr bwMode="auto">
          <a:xfrm>
            <a:off x="1524000" y="2362200"/>
            <a:ext cx="6575387" cy="3260785"/>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Filtering</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18266" b="26261"/>
          <a:stretch>
            <a:fillRect/>
          </a:stretch>
        </p:blipFill>
        <p:spPr bwMode="auto">
          <a:xfrm>
            <a:off x="1219200" y="2362200"/>
            <a:ext cx="6525136" cy="3364302"/>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Sequence</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data table</a:t>
            </a:r>
            <a:endParaRPr lang="en-US" dirty="0"/>
          </a:p>
        </p:txBody>
      </p:sp>
      <p:pic>
        <p:nvPicPr>
          <p:cNvPr id="3" name="Picture 2"/>
          <p:cNvPicPr/>
          <p:nvPr/>
        </p:nvPicPr>
        <p:blipFill>
          <a:blip r:embed="rId2"/>
          <a:srcRect l="17966" r="22616" b="24141"/>
          <a:stretch>
            <a:fillRect/>
          </a:stretch>
        </p:blipFill>
        <p:spPr bwMode="auto">
          <a:xfrm>
            <a:off x="1600200" y="2159916"/>
            <a:ext cx="6857999" cy="4088484"/>
          </a:xfrm>
          <a:prstGeom prst="rect">
            <a:avLst/>
          </a:prstGeom>
          <a:noFill/>
          <a:ln w="9525">
            <a:noFill/>
            <a:miter lim="800000"/>
            <a:headEnd/>
            <a:tailEnd/>
          </a:ln>
        </p:spPr>
      </p:pic>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r="72496" b="6158"/>
          <a:stretch>
            <a:fillRect/>
          </a:stretch>
        </p:blipFill>
        <p:spPr bwMode="auto">
          <a:xfrm>
            <a:off x="1905000" y="2209800"/>
            <a:ext cx="5412716" cy="4054109"/>
          </a:xfrm>
          <a:prstGeom prst="rect">
            <a:avLst/>
          </a:prstGeom>
          <a:noFill/>
          <a:ln w="9525">
            <a:noFill/>
            <a:miter lim="800000"/>
            <a:headEnd/>
            <a:tailEnd/>
          </a:ln>
        </p:spPr>
      </p:pic>
      <p:sp>
        <p:nvSpPr>
          <p:cNvPr id="5" name="Title 4"/>
          <p:cNvSpPr>
            <a:spLocks noGrp="1"/>
          </p:cNvSpPr>
          <p:nvPr>
            <p:ph type="title"/>
          </p:nvPr>
        </p:nvSpPr>
        <p:spPr/>
        <p:txBody>
          <a:bodyPr/>
          <a:lstStyle/>
          <a:p>
            <a:r>
              <a:rPr lang="en-US" dirty="0" smtClean="0"/>
              <a:t>Excel details</a:t>
            </a:r>
            <a:endParaRPr lang="en-US" dirty="0"/>
          </a:p>
        </p:txBody>
      </p:sp>
      <p:sp>
        <p:nvSpPr>
          <p:cNvPr id="6" name="TextBox 5"/>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75305" b="40350"/>
          <a:stretch>
            <a:fillRect/>
          </a:stretch>
        </p:blipFill>
        <p:spPr bwMode="auto">
          <a:xfrm>
            <a:off x="1447800" y="2438400"/>
            <a:ext cx="5410200" cy="2667000"/>
          </a:xfrm>
          <a:prstGeom prst="rect">
            <a:avLst/>
          </a:prstGeom>
          <a:noFill/>
          <a:ln w="9525">
            <a:noFill/>
            <a:miter lim="800000"/>
            <a:headEnd/>
            <a:tailEnd/>
          </a:ln>
        </p:spPr>
      </p:pic>
      <p:sp>
        <p:nvSpPr>
          <p:cNvPr id="3" name="Title 2"/>
          <p:cNvSpPr>
            <a:spLocks noGrp="1"/>
          </p:cNvSpPr>
          <p:nvPr>
            <p:ph type="title"/>
          </p:nvPr>
        </p:nvSpPr>
        <p:spPr/>
        <p:txBody>
          <a:bodyPr/>
          <a:lstStyle/>
          <a:p>
            <a:r>
              <a:rPr lang="en-US" dirty="0" smtClean="0"/>
              <a:t>Output:</a:t>
            </a:r>
            <a:endParaRPr lang="en-US" dirty="0"/>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flipH="1">
            <a:off x="9098281" y="6583680"/>
            <a:ext cx="45719" cy="274320"/>
          </a:xfrm>
        </p:spPr>
        <p:txBody>
          <a:bodyPr>
            <a:normAutofit fontScale="32500" lnSpcReduction="20000"/>
          </a:bodyPr>
          <a:lstStyle/>
          <a:p>
            <a:pPr>
              <a:buNone/>
            </a:pPr>
            <a:endParaRPr lang="en-US" sz="4000" dirty="0">
              <a:latin typeface="Calibri" panose="020F0502020204030204" pitchFamily="34" charset="0"/>
              <a:cs typeface="Calibri" panose="020F0502020204030204" pitchFamily="34" charset="0"/>
            </a:endParaRPr>
          </a:p>
        </p:txBody>
      </p:sp>
      <p:sp>
        <p:nvSpPr>
          <p:cNvPr id="4" name="TextBox 3"/>
          <p:cNvSpPr txBox="1"/>
          <p:nvPr/>
        </p:nvSpPr>
        <p:spPr>
          <a:xfrm>
            <a:off x="0" y="6477000"/>
            <a:ext cx="9144000" cy="381000"/>
          </a:xfrm>
          <a:prstGeom prst="rect">
            <a:avLst/>
          </a:prstGeom>
          <a:solidFill>
            <a:schemeClr val="bg2">
              <a:lumMod val="75000"/>
            </a:schemeClr>
          </a:solidFill>
          <a:ln>
            <a:solidFill>
              <a:schemeClr val="accent1"/>
            </a:solidFill>
          </a:ln>
        </p:spPr>
        <p:txBody>
          <a:bodyPr wrap="square" rtlCol="0">
            <a:spAutoFit/>
          </a:bodyPr>
          <a:lstStyle/>
          <a:p>
            <a:pPr algn="ctr"/>
            <a:r>
              <a:rPr lang="en-US" dirty="0" smtClean="0"/>
              <a:t>Department of CSE, KGiSL Institute of Technology, Coimbatore</a:t>
            </a:r>
            <a:endParaRPr lang="en-US" dirty="0"/>
          </a:p>
        </p:txBody>
      </p:sp>
      <p:sp>
        <p:nvSpPr>
          <p:cNvPr id="5" name="Rectangle 4"/>
          <p:cNvSpPr/>
          <p:nvPr/>
        </p:nvSpPr>
        <p:spPr>
          <a:xfrm>
            <a:off x="2819400" y="2819400"/>
            <a:ext cx="3810000" cy="707886"/>
          </a:xfrm>
          <a:prstGeom prst="rect">
            <a:avLst/>
          </a:prstGeom>
        </p:spPr>
        <p:txBody>
          <a:bodyPr wrap="square">
            <a:spAutoFit/>
          </a:bodyPr>
          <a:lstStyle/>
          <a:p>
            <a:pPr algn="ctr"/>
            <a:r>
              <a:rPr lang="en-IN" sz="4000" dirty="0" smtClean="0">
                <a:latin typeface="Adobe Garamond Pro Bold" pitchFamily="18" charset="0"/>
              </a:rPr>
              <a:t>THANK YOU!</a:t>
            </a:r>
            <a:endParaRPr lang="en-IN" sz="4000" dirty="0">
              <a:latin typeface="Adobe Garamond Pro Bold"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2375</TotalTime>
  <Words>868</Words>
  <Application>Microsoft Office PowerPoint</Application>
  <PresentationFormat>On-screen Show (4:3)</PresentationFormat>
  <Paragraphs>174</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Flow</vt:lpstr>
      <vt:lpstr>EXCEL AUTOMATION USING RPA</vt:lpstr>
      <vt:lpstr>Agenda</vt:lpstr>
      <vt:lpstr>        Abstract </vt:lpstr>
      <vt:lpstr>Objectives And Outcome</vt:lpstr>
      <vt:lpstr>Introduction of RPA</vt:lpstr>
      <vt:lpstr>Slide 6</vt:lpstr>
      <vt:lpstr>Area Introduction-Existing system</vt:lpstr>
      <vt:lpstr>Proposed System</vt:lpstr>
      <vt:lpstr>Literature Review</vt:lpstr>
      <vt:lpstr>Architectural Design</vt:lpstr>
      <vt:lpstr>Flow Chart</vt:lpstr>
      <vt:lpstr>Data Flow Diagram Level 0</vt:lpstr>
      <vt:lpstr>Data Flow Diagram Level 1</vt:lpstr>
      <vt:lpstr>Module Splitup</vt:lpstr>
      <vt:lpstr>Screen shots of modules under progress.</vt:lpstr>
      <vt:lpstr>Get Information:</vt:lpstr>
      <vt:lpstr>Sequence:</vt:lpstr>
      <vt:lpstr>Reading excel sheet:</vt:lpstr>
      <vt:lpstr>Sequence:</vt:lpstr>
      <vt:lpstr>Sequence</vt:lpstr>
      <vt:lpstr>Sequence</vt:lpstr>
      <vt:lpstr>Submit</vt:lpstr>
      <vt:lpstr>Excel details</vt:lpstr>
      <vt:lpstr>Output</vt:lpstr>
      <vt:lpstr>Output</vt:lpstr>
      <vt:lpstr>Chart process:</vt:lpstr>
      <vt:lpstr>Sequence</vt:lpstr>
      <vt:lpstr>Sequence</vt:lpstr>
      <vt:lpstr>Excel details</vt:lpstr>
      <vt:lpstr>Output:</vt:lpstr>
      <vt:lpstr>Filtering</vt:lpstr>
      <vt:lpstr>Sequence</vt:lpstr>
      <vt:lpstr>Filter data table</vt:lpstr>
      <vt:lpstr>Excel details</vt:lpstr>
      <vt:lpstr>Output:</vt:lpstr>
      <vt:lpstr>Slide 36</vt:lpstr>
    </vt:vector>
  </TitlesOfParts>
  <Company>kgisl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r.pranesh</dc:creator>
  <cp:lastModifiedBy>lenovo</cp:lastModifiedBy>
  <cp:revision>99</cp:revision>
  <dcterms:created xsi:type="dcterms:W3CDTF">2011-12-09T06:36:00Z</dcterms:created>
  <dcterms:modified xsi:type="dcterms:W3CDTF">2020-04-27T08:40:44Z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1033-10.2.0.7635</vt:lpwstr>
  </property>
</Properties>
</file>